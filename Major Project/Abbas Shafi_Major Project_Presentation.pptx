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-576" y="-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Pipeline A — F1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UCI</c:v>
                </c:pt>
                <c:pt idx="1">
                  <c:v>MIT</c:v>
                </c:pt>
                <c:pt idx="2">
                  <c:v>Bonn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0.439</c:v>
                </c:pt>
                <c:pt idx="1">
                  <c:v>0.29399999999999998</c:v>
                </c:pt>
                <c:pt idx="2">
                  <c:v>0.51400000000000001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Pipeline B — F1</c:v>
                </c:pt>
              </c:strCache>
            </c:strRef>
          </c:tx>
          <c:spPr>
            <a:solidFill>
              <a:srgbClr val="E84855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UCI</c:v>
                </c:pt>
                <c:pt idx="1">
                  <c:v>MIT</c:v>
                </c:pt>
                <c:pt idx="2">
                  <c:v>Bonn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0.41599999999999998</c:v>
                </c:pt>
                <c:pt idx="1">
                  <c:v>0.88600000000000001</c:v>
                </c:pt>
                <c:pt idx="2">
                  <c:v>0.85699999999999998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89513728"/>
        <c:axId val="189515264"/>
      </c:barChart>
      <c:catAx>
        <c:axId val="1895137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189515264"/>
        <c:crosses val="autoZero"/>
        <c:auto val="1"/>
        <c:lblAlgn val="ctr"/>
        <c:lblOffset val="100"/>
        <c:noMultiLvlLbl val="1"/>
      </c:catAx>
      <c:valAx>
        <c:axId val="189515264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18951372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L1 (Lasso)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UCI</c:v>
                </c:pt>
                <c:pt idx="1">
                  <c:v>MIT</c:v>
                </c:pt>
                <c:pt idx="2">
                  <c:v>Bonn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0.437</c:v>
                </c:pt>
                <c:pt idx="1">
                  <c:v>0.314</c:v>
                </c:pt>
                <c:pt idx="2">
                  <c:v>0.66600000000000004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L2 (Ridge)</c:v>
                </c:pt>
              </c:strCache>
            </c:strRef>
          </c:tx>
          <c:spPr>
            <a:solidFill>
              <a:srgbClr val="E84855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UCI</c:v>
                </c:pt>
                <c:pt idx="1">
                  <c:v>MIT</c:v>
                </c:pt>
                <c:pt idx="2">
                  <c:v>Bonn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0.44800000000000001</c:v>
                </c:pt>
                <c:pt idx="1">
                  <c:v>0.316</c:v>
                </c:pt>
                <c:pt idx="2">
                  <c:v>0.67100000000000004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Elastic Net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UCI</c:v>
                </c:pt>
                <c:pt idx="1">
                  <c:v>MIT</c:v>
                </c:pt>
                <c:pt idx="2">
                  <c:v>Bonn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0.186</c:v>
                </c:pt>
                <c:pt idx="1">
                  <c:v>0.315</c:v>
                </c:pt>
                <c:pt idx="2">
                  <c:v>0.66100000000000003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6089856"/>
        <c:axId val="126095744"/>
      </c:barChart>
      <c:catAx>
        <c:axId val="1260898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126095744"/>
        <c:crosses val="autoZero"/>
        <c:auto val="1"/>
        <c:lblAlgn val="ctr"/>
        <c:lblOffset val="100"/>
        <c:noMultiLvlLbl val="1"/>
      </c:catAx>
      <c:valAx>
        <c:axId val="126095744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12608985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L1 (Lasso)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UCI</c:v>
                </c:pt>
                <c:pt idx="1">
                  <c:v>MIT</c:v>
                </c:pt>
                <c:pt idx="2">
                  <c:v>Bonn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0.41899999999999998</c:v>
                </c:pt>
                <c:pt idx="1">
                  <c:v>0.89500000000000002</c:v>
                </c:pt>
                <c:pt idx="2">
                  <c:v>0.91800000000000004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L2 (Ridge)</c:v>
                </c:pt>
              </c:strCache>
            </c:strRef>
          </c:tx>
          <c:spPr>
            <a:solidFill>
              <a:srgbClr val="E84855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UCI</c:v>
                </c:pt>
                <c:pt idx="1">
                  <c:v>MIT</c:v>
                </c:pt>
                <c:pt idx="2">
                  <c:v>Bonn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0.41899999999999998</c:v>
                </c:pt>
                <c:pt idx="1">
                  <c:v>0.89600000000000002</c:v>
                </c:pt>
                <c:pt idx="2">
                  <c:v>0.90800000000000003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Elastic Net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UCI</c:v>
                </c:pt>
                <c:pt idx="1">
                  <c:v>MIT</c:v>
                </c:pt>
                <c:pt idx="2">
                  <c:v>Bonn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0.35299999999999998</c:v>
                </c:pt>
                <c:pt idx="1">
                  <c:v>0.89500000000000002</c:v>
                </c:pt>
                <c:pt idx="2">
                  <c:v>0.91100000000000003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6156160"/>
        <c:axId val="126231680"/>
      </c:barChart>
      <c:catAx>
        <c:axId val="1261561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126231680"/>
        <c:crosses val="autoZero"/>
        <c:auto val="1"/>
        <c:lblAlgn val="ctr"/>
        <c:lblOffset val="100"/>
        <c:noMultiLvlLbl val="1"/>
      </c:catAx>
      <c:valAx>
        <c:axId val="126231680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126156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Handling</c:v>
                </c:pt>
              </c:strCache>
            </c:strRef>
          </c:tx>
          <c:spPr>
            <a:solidFill>
              <a:srgbClr val="8899AA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UCI-A</c:v>
                </c:pt>
                <c:pt idx="1">
                  <c:v>MIT-B</c:v>
                </c:pt>
                <c:pt idx="2">
                  <c:v>Bonn-B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3.7999999999999999E-2</c:v>
                </c:pt>
                <c:pt idx="1">
                  <c:v>0.86699999999999999</c:v>
                </c:pt>
                <c:pt idx="2">
                  <c:v>0.85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SMOTE</c:v>
                </c:pt>
              </c:strCache>
            </c:strRef>
          </c:tx>
          <c:spPr>
            <a:solidFill>
              <a:srgbClr val="1B998B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UCI-A</c:v>
                </c:pt>
                <c:pt idx="1">
                  <c:v>MIT-B</c:v>
                </c:pt>
                <c:pt idx="2">
                  <c:v>Bonn-B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0.435</c:v>
                </c:pt>
                <c:pt idx="1">
                  <c:v>0.88400000000000001</c:v>
                </c:pt>
                <c:pt idx="2">
                  <c:v>0.85699999999999998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Undersampling</c:v>
                </c:pt>
              </c:strCache>
            </c:strRef>
          </c:tx>
          <c:spPr>
            <a:solidFill>
              <a:srgbClr val="E84855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UCI-A</c:v>
                </c:pt>
                <c:pt idx="1">
                  <c:v>MIT-B</c:v>
                </c:pt>
                <c:pt idx="2">
                  <c:v>Bonn-B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0.443</c:v>
                </c:pt>
                <c:pt idx="1">
                  <c:v>0.88300000000000001</c:v>
                </c:pt>
                <c:pt idx="2">
                  <c:v>0.83699999999999997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Class Weighting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UCI-A</c:v>
                </c:pt>
                <c:pt idx="1">
                  <c:v>MIT-B</c:v>
                </c:pt>
                <c:pt idx="2">
                  <c:v>Bonn-B</c:v>
                </c:pt>
              </c:strCache>
            </c: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0.439</c:v>
                </c:pt>
                <c:pt idx="1">
                  <c:v>0.88600000000000001</c:v>
                </c:pt>
                <c:pt idx="2">
                  <c:v>0.85699999999999998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26686720"/>
        <c:axId val="126688640"/>
      </c:barChart>
      <c:catAx>
        <c:axId val="12668672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126688640"/>
        <c:crosses val="autoZero"/>
        <c:auto val="1"/>
        <c:lblAlgn val="ctr"/>
        <c:lblOffset val="100"/>
        <c:noMultiLvlLbl val="1"/>
      </c:catAx>
      <c:valAx>
        <c:axId val="126688640"/>
        <c:scaling>
          <c:orientation val="minMax"/>
          <c:max val="1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1266867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CCB55F-CB76-4018-B83D-A23F7E6DBC4A}" type="datetimeFigureOut">
              <a:rPr lang="en-US" smtClean="0"/>
              <a:t>5/19/2026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9ABFCA-D0EC-4546-8AB4-436B30DB11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8826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0"/>
            <a:ext cx="2011680" cy="10058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178040" y="137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FFFFFF"/>
                </a:solidFill>
              </a:rPr>
              <a:t>DATA MINING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7178040" y="5029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FFFFFF"/>
                </a:solidFill>
              </a:rPr>
              <a:t>MAJOR ASSIGNMENT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11480" y="100584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Epileptic Seizure</a:t>
            </a:r>
            <a:endParaRPr lang="en-US" sz="4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Prediction Study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411480" y="2880360"/>
            <a:ext cx="6583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· Regularisation · Class Imbalance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Three EEG Datasets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3703320"/>
            <a:ext cx="32004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8404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Abbas </a:t>
            </a:r>
            <a:r>
              <a:rPr lang="en-US" sz="1200" dirty="0" err="1" smtClean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Shafi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766560" y="402336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152030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12280" y="411480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998B"/>
                </a:solidFill>
              </a:rPr>
              <a:t>UCI  ·  MIT  ·  Bonn Univ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3 Datasets · 2 Pipelines</a:t>
            </a:r>
            <a:endParaRPr lang="en-US" sz="1000" dirty="0"/>
          </a:p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</a:rPr>
              <a:t>L1 · L2 · ElasticNet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502920" cy="8229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6984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94183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Datasets Overview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3075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</a:rPr>
              <a:t>UCI · MIT · Bonn University EEG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8745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74520"/>
            <a:ext cx="502920" cy="82296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0756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194767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 Pipelines A &amp; 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23134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</a:rPr>
              <a:t>Design, ordering rationale, output shapes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80360"/>
            <a:ext cx="502920" cy="8229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08152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295351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Baseline Logistic Regression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14400" y="33192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</a:rPr>
              <a:t>Accuracy, F1, PR-AUC per dataset &amp; pipeline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88620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3886200"/>
            <a:ext cx="502920" cy="82296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08736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4400" y="395935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Overfitting &amp; Underfitting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14400" y="432511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</a:rPr>
              <a:t>Learning curves under C=0.0001 / 1.0 / 1000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86868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868680"/>
            <a:ext cx="502920" cy="8229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06984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94183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Regularisation Study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130759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</a:rPr>
              <a:t>L1 · L2 · Elastic Net — sparsity &amp; CV F1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187452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874520"/>
            <a:ext cx="502920" cy="82296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0756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194767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 Imbalance Handling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231343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</a:rPr>
              <a:t>SMOTE · Undersampling · Class Weighting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880360"/>
            <a:ext cx="4114800" cy="822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880360"/>
            <a:ext cx="502920" cy="82296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8152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295351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Comparative Analysis (Q1–Q4)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49240" y="3319272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A6278"/>
                </a:solidFill>
              </a:rPr>
              <a:t>Cross-dataset answers to assignment questions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|  Datasets Overview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88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88920" cy="47548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412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UCI BEED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02336" y="1444752"/>
            <a:ext cx="164592" cy="16459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3898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</a:rPr>
              <a:t>8,000 samples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02336" y="1847088"/>
            <a:ext cx="164592" cy="16459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7922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</a:rPr>
              <a:t>16 features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02336" y="2249424"/>
            <a:ext cx="164592" cy="16459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</a:rPr>
              <a:t>4 classes → binary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02336" y="2651760"/>
            <a:ext cx="164592" cy="16459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5968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</a:rPr>
              <a:t>Seizure: 20%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02336" y="3054096"/>
            <a:ext cx="164592" cy="16459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9992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</a:rPr>
              <a:t>Ratio: 3:1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3447288"/>
            <a:ext cx="2606040" cy="36576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3538728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278"/>
                </a:solidFill>
              </a:rPr>
              <a:t>Ideal for isolating regularisation effects — low-dimensional, moderate imbalance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18688" y="777240"/>
            <a:ext cx="2788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18688" y="777240"/>
            <a:ext cx="2788920" cy="47548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91840" y="8412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MIT Seizure Recognition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346704" y="1444752"/>
            <a:ext cx="164592" cy="16459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584448" y="13898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</a:rPr>
              <a:t>11,500 samples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46704" y="1847088"/>
            <a:ext cx="164592" cy="16459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84448" y="17922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</a:rPr>
              <a:t>178 EEG time-series features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346704" y="2249424"/>
            <a:ext cx="164592" cy="16459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84448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</a:rPr>
              <a:t>5 classes → binary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46704" y="2651760"/>
            <a:ext cx="164592" cy="16459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84448" y="25968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</a:rPr>
              <a:t>Seizure: 20%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46704" y="3054096"/>
            <a:ext cx="164592" cy="16459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84448" y="29992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</a:rPr>
              <a:t>Ratio: 4:1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310128" y="3447288"/>
            <a:ext cx="2606040" cy="36576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310128" y="3538728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278"/>
                </a:solidFill>
              </a:rPr>
              <a:t>Primary imbalance study dataset — large corpus, true time-series structure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163056" y="777240"/>
            <a:ext cx="27889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163056" y="777240"/>
            <a:ext cx="2788920" cy="4754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36208" y="841248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Bonn University EEG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291072" y="1444752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28816" y="1389888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</a:rPr>
              <a:t>400 samples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91072" y="1847088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28816" y="1792224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</a:rPr>
              <a:t>4,097 raw signal features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291072" y="2249424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28816" y="21945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</a:rPr>
              <a:t>5 classes → binary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291072" y="2651760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528816" y="2596896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</a:rPr>
              <a:t>Seizure: 25%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91072" y="3054096"/>
            <a:ext cx="164592" cy="164592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528816" y="2999232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2E3B"/>
                </a:solidFill>
              </a:rPr>
              <a:t>Ratio: 3:1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6254496" y="3447288"/>
            <a:ext cx="260604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254496" y="3538728"/>
            <a:ext cx="2606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4A6278"/>
                </a:solidFill>
              </a:rPr>
              <a:t>Most challenging — extreme feature:sample ratio (10.2:1), curse of dimensionality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|  Preprocessing Pipelines A &amp; B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3931920" cy="420624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046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</a:rPr>
              <a:t>PIPELINE  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32588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325880"/>
            <a:ext cx="685800" cy="1005840"/>
          </a:xfrm>
          <a:prstGeom prst="rect">
            <a:avLst/>
          </a:prstGeom>
          <a:solidFill>
            <a:srgbClr val="E8F5F3"/>
          </a:solidFill>
          <a:ln w="12700">
            <a:solidFill>
              <a:srgbClr val="D6E4E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4173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1B998B"/>
                </a:solidFill>
              </a:rPr>
              <a:t>STEP 1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48056" y="1801368"/>
            <a:ext cx="274320" cy="2743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8056" y="18105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141732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RobustScaler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51560" y="17647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8"/>
                </a:solidFill>
              </a:rPr>
              <a:t>Scale using median &amp; IQR — robust to ictal spike outliers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46888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468880"/>
            <a:ext cx="685800" cy="1005840"/>
          </a:xfrm>
          <a:prstGeom prst="rect">
            <a:avLst/>
          </a:prstGeom>
          <a:solidFill>
            <a:srgbClr val="E8F5F3"/>
          </a:solidFill>
          <a:ln w="12700">
            <a:solidFill>
              <a:srgbClr val="D6E4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25603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1B998B"/>
                </a:solidFill>
              </a:rPr>
              <a:t>STEP 2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448056" y="2944368"/>
            <a:ext cx="274320" cy="2743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8056" y="29535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256032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Clip Noise (±3σ)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29077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8"/>
                </a:solidFill>
              </a:rPr>
              <a:t>Suppress extreme EEG artefacts; preserve high-amplitude seizure bursts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74320" y="361188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3611880"/>
            <a:ext cx="685800" cy="1005840"/>
          </a:xfrm>
          <a:prstGeom prst="rect">
            <a:avLst/>
          </a:prstGeom>
          <a:solidFill>
            <a:srgbClr val="E8F5F3"/>
          </a:solidFill>
          <a:ln w="12700">
            <a:solidFill>
              <a:srgbClr val="D6E4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37033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1B998B"/>
                </a:solidFill>
              </a:rPr>
              <a:t>STEP 3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448056" y="4087368"/>
            <a:ext cx="274320" cy="27432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8056" y="40965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51560" y="370332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SelectKBest (ANOVA F)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51560" y="405079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8"/>
                </a:solidFill>
              </a:rPr>
              <a:t>k=8 UCI · k=50 MIT · k=30 Bonn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278"/>
                </a:solidFill>
              </a:rPr>
              <a:t>Univariate feature selection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74320" y="4663440"/>
            <a:ext cx="3931920" cy="347472"/>
          </a:xfrm>
          <a:prstGeom prst="rect">
            <a:avLst/>
          </a:prstGeom>
          <a:solidFill>
            <a:srgbClr val="E8F5F3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46908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B998B"/>
                </a:solidFill>
              </a:rPr>
              <a:t>Output: UCI 8000×8  ·  MIT 9200×50  ·  Bonn 320×30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846320" y="777240"/>
            <a:ext cx="3931920" cy="42062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80467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kern="0" spc="300" dirty="0">
                <a:solidFill>
                  <a:srgbClr val="FFFFFF"/>
                </a:solidFill>
              </a:rPr>
              <a:t>PIPELINE  B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4846320" y="132588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846320" y="1325880"/>
            <a:ext cx="685800" cy="1005840"/>
          </a:xfrm>
          <a:prstGeom prst="rect">
            <a:avLst/>
          </a:prstGeom>
          <a:solidFill>
            <a:srgbClr val="FDF0F1"/>
          </a:solidFill>
          <a:ln w="12700">
            <a:solidFill>
              <a:srgbClr val="D6E4E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14173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E84855"/>
                </a:solidFill>
              </a:rPr>
              <a:t>STEP 1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5020056" y="1801368"/>
            <a:ext cx="274320" cy="274320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0056" y="18105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623560" y="141732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Statistical Feature Extraction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623560" y="176479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8"/>
                </a:solidFill>
              </a:rPr>
              <a:t>Mean · Std · Peak-to-peak · IQR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278"/>
                </a:solidFill>
              </a:rPr>
              <a:t>Mean abs diff · Mean energy (x²)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278"/>
                </a:solidFill>
              </a:rPr>
              <a:t>→ 6 physiologically grounded features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846320" y="246888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846320" y="2468880"/>
            <a:ext cx="685800" cy="1005840"/>
          </a:xfrm>
          <a:prstGeom prst="rect">
            <a:avLst/>
          </a:prstGeom>
          <a:solidFill>
            <a:srgbClr val="FDF0F1"/>
          </a:solidFill>
          <a:ln w="12700">
            <a:solidFill>
              <a:srgbClr val="D6E4E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846320" y="25603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E84855"/>
                </a:solidFill>
              </a:rPr>
              <a:t>STEP 2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5020056" y="2944368"/>
            <a:ext cx="274320" cy="274320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0056" y="29535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623560" y="256032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StandardScaler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623560" y="290779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8"/>
                </a:solidFill>
              </a:rPr>
              <a:t>Normalise interpretable stats — applied AFTER extraction to preserve physical meaning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4846320" y="3611880"/>
            <a:ext cx="393192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846320" y="3611880"/>
            <a:ext cx="685800" cy="1005840"/>
          </a:xfrm>
          <a:prstGeom prst="rect">
            <a:avLst/>
          </a:prstGeom>
          <a:solidFill>
            <a:srgbClr val="FDF0F1"/>
          </a:solidFill>
          <a:ln w="12700">
            <a:solidFill>
              <a:srgbClr val="D6E4E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46320" y="3703320"/>
            <a:ext cx="685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b="1" kern="0" spc="100" dirty="0">
                <a:solidFill>
                  <a:srgbClr val="E84855"/>
                </a:solidFill>
              </a:rPr>
              <a:t>STEP 3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5020056" y="4087368"/>
            <a:ext cx="274320" cy="274320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0056" y="4096512"/>
            <a:ext cx="274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623560" y="3703320"/>
            <a:ext cx="3017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2E3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PCA (95% variance)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5623560" y="4050792"/>
            <a:ext cx="3017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A6278"/>
                </a:solidFill>
              </a:rPr>
              <a:t>Compress to 2 principal components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4A6278"/>
                </a:solidFill>
              </a:rPr>
              <a:t>Captures correlated variance SelectKBest misses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846320" y="4663440"/>
            <a:ext cx="3931920" cy="347472"/>
          </a:xfrm>
          <a:prstGeom prst="rect">
            <a:avLst/>
          </a:prstGeom>
          <a:solidFill>
            <a:srgbClr val="FDF0F1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892040" y="46908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84855"/>
                </a:solidFill>
              </a:rPr>
              <a:t>Output: UCI 8000×2  ·  MIT 9200×2  ·  Bonn 320×2  (all → 2 PCA components)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4526280" y="822960"/>
            <a:ext cx="0" cy="4251960"/>
          </a:xfrm>
          <a:prstGeom prst="line">
            <a:avLst/>
          </a:prstGeom>
          <a:noFill/>
          <a:ln w="12700">
            <a:solidFill>
              <a:srgbClr val="D6E4EF"/>
            </a:solidFill>
            <a:prstDash val="dash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|  Baseline Logistic Regression Results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20040" y="777240"/>
          <a:ext cx="50292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841248"/>
          <a:ext cx="3127248" cy="3108959"/>
        </p:xfrm>
        <a:graphic>
          <a:graphicData uri="http://schemas.openxmlformats.org/drawingml/2006/table">
            <a:tbl>
              <a:tblPr/>
              <a:tblGrid>
                <a:gridCol w="749808"/>
                <a:gridCol w="384048"/>
                <a:gridCol w="621792"/>
                <a:gridCol w="621792"/>
                <a:gridCol w="749808"/>
              </a:tblGrid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Pipe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Acc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F1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PR-AUC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UCI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0.619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0.439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0.333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UCI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0.460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0.416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0.259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MIT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0.568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0.294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0.375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MIT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0.952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998B"/>
                          </a:solidFill>
                        </a:rPr>
                        <a:t>0.886 ★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998B"/>
                          </a:solidFill>
                        </a:rPr>
                        <a:t>0.955 ★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Bonn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A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0.788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0.514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0.594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44137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Bonn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B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</a:rPr>
                        <a:t>0.925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998B"/>
                          </a:solidFill>
                        </a:rPr>
                        <a:t>0.857 ★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1B998B"/>
                          </a:solidFill>
                        </a:rPr>
                        <a:t>0.907 ★</a:t>
                      </a:r>
                      <a:endParaRPr lang="en-US" sz="1050" dirty="0"/>
                    </a:p>
                  </a:txBody>
                  <a:tcPr>
                    <a:lnL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BFA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532120" y="4069080"/>
            <a:ext cx="3383280" cy="868680"/>
          </a:xfrm>
          <a:prstGeom prst="rect">
            <a:avLst/>
          </a:prstGeom>
          <a:solidFill>
            <a:srgbClr val="E8F5F3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623560" y="4133088"/>
            <a:ext cx="320040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B998B"/>
                </a:solidFill>
              </a:rPr>
              <a:t>Key Finding: </a:t>
            </a:r>
            <a:r>
              <a:rPr lang="en-US" sz="950" dirty="0">
                <a:solidFill>
                  <a:srgbClr val="1A2E3B"/>
                </a:solidFill>
              </a:rPr>
              <a:t>Pipeline B gains +0.592 F1 on MIT and +0.343 on Bonn vs Pipeline A. On UCI (16 features), pipelines are comparable.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|  Overfitting &amp; Underfitting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88920" cy="1508760"/>
          </a:xfrm>
          <a:prstGeom prst="rect">
            <a:avLst/>
          </a:prstGeom>
          <a:solidFill>
            <a:srgbClr val="FEF2F2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777240"/>
            <a:ext cx="2788920" cy="384048"/>
          </a:xfrm>
          <a:prstGeom prst="rect">
            <a:avLst/>
          </a:prstGeom>
          <a:solidFill>
            <a:srgbClr val="D64045"/>
          </a:solidFill>
          <a:ln w="12700">
            <a:solidFill>
              <a:srgbClr val="D640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1381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UNDERFIT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11480" y="126187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64045"/>
                </a:solidFill>
              </a:rPr>
              <a:t>C = 0.0001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11480" y="158191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278"/>
                </a:solidFill>
              </a:rPr>
              <a:t>Features: k=3 (UCI), k=5 (MIT)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856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A2E3B"/>
                </a:solidFill>
              </a:rPr>
              <a:t>Low flat F1 · Model cannot learn signal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18688" y="777240"/>
            <a:ext cx="2788920" cy="1508760"/>
          </a:xfrm>
          <a:prstGeom prst="rect">
            <a:avLst/>
          </a:prstGeom>
          <a:solidFill>
            <a:srgbClr val="E8F5F3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18688" y="777240"/>
            <a:ext cx="2788920" cy="38404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81381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BASELINE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55848" y="126187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998B"/>
                </a:solidFill>
              </a:rPr>
              <a:t>C = 1.0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355848" y="158191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278"/>
                </a:solidFill>
              </a:rPr>
              <a:t>Features: k=8/50/30 (standard)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55848" y="1856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A2E3B"/>
                </a:solidFill>
              </a:rPr>
              <a:t>Train ≈ Val · Converges with more data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163056" y="777240"/>
            <a:ext cx="2788920" cy="1508760"/>
          </a:xfrm>
          <a:prstGeom prst="rect">
            <a:avLst/>
          </a:prstGeom>
          <a:solidFill>
            <a:srgbClr val="FFF8EC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63056" y="777240"/>
            <a:ext cx="2788920" cy="38404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54496" y="813816"/>
            <a:ext cx="2606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FFFFF"/>
                </a:solidFill>
              </a:rPr>
              <a:t>OVERFIT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00216" y="126187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</a:rPr>
              <a:t>C = 1000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300216" y="1581912"/>
            <a:ext cx="2514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6278"/>
                </a:solidFill>
              </a:rPr>
              <a:t>Features: All features, no constraint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0216" y="1856232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A2E3B"/>
                </a:solidFill>
              </a:rPr>
              <a:t>Train &gt;&gt; Val · Gap widens with data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542032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542032"/>
            <a:ext cx="73152" cy="6858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587752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998B"/>
                </a:solidFill>
              </a:rPr>
              <a:t>UCI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97280" y="2633472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</a:rPr>
              <a:t>Overfit at C=1000 shows only ~0.05 train-val F1 gap. 16 correlated features provide limited overfit opportunity.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346704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346704"/>
            <a:ext cx="73152" cy="6858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392424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84855"/>
                </a:solidFill>
              </a:rPr>
              <a:t>MIT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097280" y="3438144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</a:rPr>
              <a:t>Pipeline A with C=1000 shows wide train-val gap on 178 features. Pipeline B (2 PCA components) shows virtually no overfit — PCA is an implicit regulariser.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4151376"/>
            <a:ext cx="859536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4151376"/>
            <a:ext cx="73152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4197096"/>
            <a:ext cx="594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</a:rPr>
              <a:t>Bonn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97280" y="4242816"/>
            <a:ext cx="7589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B"/>
                </a:solidFill>
              </a:rPr>
              <a:t>Underfitting most severe (320 training samples). C=0.0001 on Pipeline A — validation F1 plateaus at ~0.2 regardless of data size.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|  Regularisation Study — L1 · L2 · Elastic Net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998B"/>
                </a:solidFill>
              </a:rPr>
              <a:t>Pipeline A — CV F1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20040" y="1005840"/>
          <a:ext cx="41148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754880" y="74980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84855"/>
                </a:solidFill>
              </a:rPr>
              <a:t>Pipeline B — CV F1</a:t>
            </a:r>
            <a:endParaRPr lang="en-US" sz="1100" dirty="0"/>
          </a:p>
        </p:txBody>
      </p:sp>
      <p:graphicFrame>
        <p:nvGraphicFramePr>
          <p:cNvPr id="7" name="Chart 1"/>
          <p:cNvGraphicFramePr/>
          <p:nvPr/>
        </p:nvGraphicFramePr>
        <p:xfrm>
          <a:off x="4754880" y="1005840"/>
          <a:ext cx="4114800" cy="26517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8" name="Text 4"/>
          <p:cNvSpPr/>
          <p:nvPr/>
        </p:nvSpPr>
        <p:spPr>
          <a:xfrm>
            <a:off x="320040" y="3749040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99AA"/>
                </a:solidFill>
              </a:rPr>
              <a:t>Sparsity (% zero coefficients)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0040" y="4023360"/>
            <a:ext cx="1600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6"/>
          <p:cNvSpPr/>
          <p:nvPr/>
        </p:nvSpPr>
        <p:spPr>
          <a:xfrm>
            <a:off x="320040" y="405993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E3B"/>
                </a:solidFill>
              </a:rPr>
              <a:t>0%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320040" y="442569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6278"/>
                </a:solidFill>
              </a:rPr>
              <a:t>UCI · L1</a:t>
            </a:r>
            <a:endParaRPr lang="en-US" sz="800" dirty="0"/>
          </a:p>
        </p:txBody>
      </p:sp>
      <p:sp>
        <p:nvSpPr>
          <p:cNvPr id="12" name="Shape 8"/>
          <p:cNvSpPr/>
          <p:nvPr/>
        </p:nvSpPr>
        <p:spPr>
          <a:xfrm>
            <a:off x="2039112" y="4023360"/>
            <a:ext cx="1600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2039112" y="405993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E3B"/>
                </a:solidFill>
              </a:rPr>
              <a:t>12.5%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2039112" y="442569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6278"/>
                </a:solidFill>
              </a:rPr>
              <a:t>UCI · ElasticNet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3758184" y="4023360"/>
            <a:ext cx="1600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2"/>
          <p:cNvSpPr/>
          <p:nvPr/>
        </p:nvSpPr>
        <p:spPr>
          <a:xfrm>
            <a:off x="3758184" y="405993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998B"/>
                </a:solidFill>
              </a:rPr>
              <a:t>30%</a:t>
            </a:r>
            <a:endParaRPr lang="en-US" sz="2000" dirty="0"/>
          </a:p>
        </p:txBody>
      </p:sp>
      <p:sp>
        <p:nvSpPr>
          <p:cNvPr id="17" name="Text 13"/>
          <p:cNvSpPr/>
          <p:nvPr/>
        </p:nvSpPr>
        <p:spPr>
          <a:xfrm>
            <a:off x="3758184" y="442569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6278"/>
                </a:solidFill>
              </a:rPr>
              <a:t>Bonn · L1</a:t>
            </a:r>
            <a:endParaRPr lang="en-US" sz="800" dirty="0"/>
          </a:p>
        </p:txBody>
      </p:sp>
      <p:sp>
        <p:nvSpPr>
          <p:cNvPr id="18" name="Shape 14"/>
          <p:cNvSpPr/>
          <p:nvPr/>
        </p:nvSpPr>
        <p:spPr>
          <a:xfrm>
            <a:off x="5477256" y="4023360"/>
            <a:ext cx="1600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5477256" y="405993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E3B"/>
                </a:solidFill>
              </a:rPr>
              <a:t>10%</a:t>
            </a:r>
            <a:endParaRPr lang="en-US" sz="2000" dirty="0"/>
          </a:p>
        </p:txBody>
      </p:sp>
      <p:sp>
        <p:nvSpPr>
          <p:cNvPr id="20" name="Text 16"/>
          <p:cNvSpPr/>
          <p:nvPr/>
        </p:nvSpPr>
        <p:spPr>
          <a:xfrm>
            <a:off x="5477256" y="442569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6278"/>
                </a:solidFill>
              </a:rPr>
              <a:t>Bonn · ElasticNet</a:t>
            </a:r>
            <a:endParaRPr lang="en-US" sz="800" dirty="0"/>
          </a:p>
        </p:txBody>
      </p:sp>
      <p:sp>
        <p:nvSpPr>
          <p:cNvPr id="21" name="Shape 17"/>
          <p:cNvSpPr/>
          <p:nvPr/>
        </p:nvSpPr>
        <p:spPr>
          <a:xfrm>
            <a:off x="7196328" y="4023360"/>
            <a:ext cx="160020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Text 18"/>
          <p:cNvSpPr/>
          <p:nvPr/>
        </p:nvSpPr>
        <p:spPr>
          <a:xfrm>
            <a:off x="7196328" y="4059936"/>
            <a:ext cx="1600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2E3B"/>
                </a:solidFill>
              </a:rPr>
              <a:t>0%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7196328" y="4425696"/>
            <a:ext cx="1600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4A6278"/>
                </a:solidFill>
              </a:rPr>
              <a:t>MIT · all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 |  Class Imbalance Handling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2788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777240"/>
            <a:ext cx="2788920" cy="34747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80467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SMOTE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84048" y="1188720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</a:rPr>
              <a:t>Synthetic minority oversampling via k-NN interpolation in feature space. Applied training-only to prevent data leakage.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18688" y="777240"/>
            <a:ext cx="2788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18688" y="777240"/>
            <a:ext cx="2788920" cy="34747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10128" y="80467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Undersampling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28416" y="1188720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</a:rPr>
              <a:t>Random majority removal until balanced. Risk: information loss. Critical on small datasets (Bonn → only 128 samples remain).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163056" y="777240"/>
            <a:ext cx="2788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EF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63056" y="777240"/>
            <a:ext cx="2788920" cy="34747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54496" y="804672"/>
            <a:ext cx="2606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Class Weighting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72784" y="1188720"/>
            <a:ext cx="257860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2E3B"/>
                </a:solidFill>
              </a:rPr>
              <a:t>class_weight='balanced' — inversely weights loss by class frequency. No data modification. Safest on small datasets.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0040" y="2176272"/>
            <a:ext cx="8503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899AA"/>
                </a:solidFill>
              </a:rPr>
              <a:t>F1 Score by Technique &amp; Dataset (Pipeline B — best pipeline)</a:t>
            </a:r>
            <a:endParaRPr lang="en-US" sz="1000" dirty="0"/>
          </a:p>
        </p:txBody>
      </p:sp>
      <p:graphicFrame>
        <p:nvGraphicFramePr>
          <p:cNvPr id="17" name="Chart 0"/>
          <p:cNvGraphicFramePr/>
          <p:nvPr/>
        </p:nvGraphicFramePr>
        <p:xfrm>
          <a:off x="320040" y="2450592"/>
          <a:ext cx="530352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5806440" y="2487168"/>
            <a:ext cx="3063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5806440" y="2487168"/>
            <a:ext cx="64008" cy="53035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943600" y="2542032"/>
            <a:ext cx="2852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B"/>
                </a:solidFill>
              </a:rPr>
              <a:t>Without handling: UCI recall collapses to 0.02 regardless of regulariser.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5806440" y="3090672"/>
            <a:ext cx="3063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E848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5806440" y="3090672"/>
            <a:ext cx="64008" cy="53035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943600" y="3145536"/>
            <a:ext cx="2852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B"/>
                </a:solidFill>
              </a:rPr>
              <a:t>SMOTE &amp; Class Weighting tie on Bonn (F1=0.857). Undersampling drops to 0.837 — small dataset data loss.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5806440" y="3694176"/>
            <a:ext cx="3063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5806440" y="3694176"/>
            <a:ext cx="64008" cy="5303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943600" y="3749040"/>
            <a:ext cx="2852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B"/>
                </a:solidFill>
              </a:rPr>
              <a:t>On MIT (large dataset), all 4 techniques perform equivalently (F1: 0.867–0.886).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806440" y="4297680"/>
            <a:ext cx="306324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B998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5"/>
          <p:cNvSpPr/>
          <p:nvPr/>
        </p:nvSpPr>
        <p:spPr>
          <a:xfrm>
            <a:off x="5806440" y="4297680"/>
            <a:ext cx="64008" cy="530352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0" y="4352544"/>
            <a:ext cx="285292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E3B"/>
                </a:solidFill>
              </a:rPr>
              <a:t>Class Weighting is safest overall — no data modification, no synthetic noise.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21F2E"/>
          </a:solidFill>
          <a:ln w="12700">
            <a:solidFill>
              <a:srgbClr val="12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99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Q1  |  Does Preprocessing Order Affect Results?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804672"/>
            <a:ext cx="8412480" cy="50292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50392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YES — Substantially and Consistently Across All Three Datasets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44752"/>
          <a:ext cx="4114800" cy="1737360"/>
        </p:xfrm>
        <a:graphic>
          <a:graphicData uri="http://schemas.openxmlformats.org/drawingml/2006/table">
            <a:tbl>
              <a:tblPr/>
              <a:tblGrid>
                <a:gridCol w="822960"/>
                <a:gridCol w="1097280"/>
                <a:gridCol w="1097280"/>
                <a:gridCol w="1097280"/>
              </a:tblGrid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Dataset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Pipeline A F1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Pipeline B F1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</a:rPr>
                        <a:t>Gain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998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UCI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</a:rPr>
                        <a:t>0.439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</a:rPr>
                        <a:t>0.416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4855"/>
                          </a:solidFill>
                        </a:rPr>
                        <a:t>−0.023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MIT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</a:rPr>
                        <a:t>0.294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998B"/>
                          </a:solidFill>
                        </a:rPr>
                        <a:t>0.886 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998B"/>
                          </a:solidFill>
                        </a:rPr>
                        <a:t>+0.592 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5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Bonn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</a:rPr>
                        <a:t>0.514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998B"/>
                          </a:solidFill>
                        </a:rPr>
                        <a:t>0.857 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998B"/>
                          </a:solidFill>
                        </a:rPr>
                        <a:t>+0.343 ★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B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709160" y="144475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Why Pipeline B Wins on High-Dimensional Data: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09160" y="1901952"/>
            <a:ext cx="201168" cy="20116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7" name="Text 7"/>
          <p:cNvSpPr/>
          <p:nvPr/>
        </p:nvSpPr>
        <p:spPr>
          <a:xfrm>
            <a:off x="4983480" y="182880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EF"/>
                </a:solidFill>
              </a:rPr>
              <a:t>Statistical features (energy, IQR, mean abs diff) are physiologically grounded — they directly encode ictal activity characteristics.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709160" y="2560320"/>
            <a:ext cx="201168" cy="20116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983480" y="2487168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EF"/>
                </a:solidFill>
              </a:rPr>
              <a:t>SelectKBest treats features independently (univariate ANOVA) and misses correlated feature groups that collectively encode seizure onset.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709160" y="3218688"/>
            <a:ext cx="201168" cy="20116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983480" y="314553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EF"/>
                </a:solidFill>
              </a:rPr>
              <a:t>PCA after feature extraction captures dominant variance of 6 meaningful statistics → near-lossless compression to 2 components.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4709160" y="3877056"/>
            <a:ext cx="201168" cy="201168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380390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EF"/>
                </a:solidFill>
              </a:rPr>
              <a:t>Ordering within Pipeline B matters: extract BEFORE scaling (preserves physical meaning); PCA AFTER scaling (captures true variance).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411480" y="4544568"/>
            <a:ext cx="8412480" cy="402336"/>
          </a:xfrm>
          <a:prstGeom prst="rect">
            <a:avLst/>
          </a:prstGeom>
          <a:solidFill>
            <a:srgbClr val="152535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48640" y="459028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1B998B"/>
                </a:solidFill>
              </a:rPr>
              <a:t>Pipeline B advantage scales with dimensionality — negligible on UCI (16 feat), massive on MIT (+178) and Bonn (+4097).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21F2E"/>
          </a:solidFill>
          <a:ln w="12700">
            <a:solidFill>
              <a:srgbClr val="12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Q2 &amp; Q3  |  Regularisation Generalisation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4023360" cy="384048"/>
          </a:xfrm>
          <a:prstGeom prst="rect">
            <a:avLst/>
          </a:prstGeom>
          <a:solidFill>
            <a:srgbClr val="1A2E3B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804672"/>
            <a:ext cx="3840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855"/>
                </a:solidFill>
              </a:rPr>
              <a:t>Q2: Which regulariser generalises best?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1480" y="1207008"/>
            <a:ext cx="4023360" cy="42062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52728"/>
            <a:ext cx="38404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L2 (Ridge) — Most Stable Across All 3 Datasets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828800"/>
            <a:ext cx="164592" cy="16459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73736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EF"/>
                </a:solidFill>
              </a:rPr>
              <a:t>L2 achieves highest or tied-highest CV F1 in 9 of 12 conditions (3 datasets × 2 pipelines × averaged).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359152"/>
            <a:ext cx="164592" cy="16459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26771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EF"/>
                </a:solidFill>
              </a:rPr>
              <a:t>UCI Pipe-A: L2=0.448 vs L1=0.437. MIT Pipe-B: L2=0.896 vs L1=0.895. Bonn Pipe-A: L2=0.671 vs L1=0.666.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2889504"/>
            <a:ext cx="164592" cy="16459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3232" y="279806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EF"/>
                </a:solidFill>
              </a:rPr>
              <a:t>EEG features are highly correlated (adjacent time-steps). L2's grouping effect distributes weight across correlated features → stable folds.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419856"/>
            <a:ext cx="164592" cy="164592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32841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EF"/>
                </a:solidFill>
              </a:rPr>
              <a:t>L1 is competitive and provides 30% sparsity on Bonn — but higher fold std (0.134 vs 0.116 for L2).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709160" y="777240"/>
            <a:ext cx="4114800" cy="384048"/>
          </a:xfrm>
          <a:prstGeom prst="rect">
            <a:avLst/>
          </a:prstGeom>
          <a:solidFill>
            <a:srgbClr val="1A2E3B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804672"/>
            <a:ext cx="3931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</a:rPr>
              <a:t>Q3: Does Elastic Net consistently outperform L1/L2?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1207008"/>
            <a:ext cx="4114800" cy="42062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1252728"/>
            <a:ext cx="393192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D1B2A"/>
                </a:solidFill>
              </a:rPr>
              <a:t>NO — Not Consistently. Fails Badly on UCI.</a:t>
            </a:r>
            <a:endParaRPr lang="en-US" sz="1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1691640"/>
          <a:ext cx="4114800" cy="1325880"/>
        </p:xfrm>
        <a:graphic>
          <a:graphicData uri="http://schemas.openxmlformats.org/drawingml/2006/table">
            <a:tbl>
              <a:tblPr/>
              <a:tblGrid>
                <a:gridCol w="1920240"/>
                <a:gridCol w="2194560"/>
              </a:tblGrid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</a:rPr>
                        <a:t>Regulariser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4A261"/>
                          </a:solidFill>
                        </a:rPr>
                        <a:t>UCI Pipe-A CV F1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B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L1 (Lasso)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AABBCC"/>
                          </a:solidFill>
                        </a:rPr>
                        <a:t>0.437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5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L2 (Ridge)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998B"/>
                          </a:solidFill>
                        </a:rPr>
                        <a:t>0.448 ★ best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3B"/>
                    </a:solidFill>
                  </a:tcPr>
                </a:tc>
              </a:tr>
              <a:tr h="33147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4855"/>
                          </a:solidFill>
                        </a:rPr>
                        <a:t>Elastic Net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E84855"/>
                          </a:solidFill>
                        </a:rPr>
                        <a:t>0.186  ← 57% drop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40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2535"/>
                    </a:solidFill>
                  </a:tcPr>
                </a:tc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4709160" y="31272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Why does Elastic Net fail on UCI?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4709160" y="3429000"/>
            <a:ext cx="54864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846320" y="342900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EF"/>
                </a:solidFill>
              </a:rPr>
              <a:t>Default l1_ratio=0.5 forces equal L1/L2 weighting on only 8 correlated features.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709160" y="3822192"/>
            <a:ext cx="54864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46320" y="382219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EF"/>
                </a:solidFill>
              </a:rPr>
              <a:t>L1 component competes with L2 instead of complementing — unstable coefficient path.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4709160" y="4215384"/>
            <a:ext cx="54864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46320" y="4215384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EF"/>
                </a:solidFill>
              </a:rPr>
              <a:t>On MIT/Bonn Pipeline B (2 PCA components): all regularisers converge — regulariser becomes irrelevant.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4709160" y="4608576"/>
            <a:ext cx="54864" cy="2926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46320" y="4608576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EF"/>
                </a:solidFill>
              </a:rPr>
              <a:t>Fix: grid search over l1_ratio is mandatory for Elastic Net to be competitive.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658368"/>
          </a:xfrm>
          <a:prstGeom prst="rect">
            <a:avLst/>
          </a:prstGeom>
          <a:solidFill>
            <a:srgbClr val="121F2E"/>
          </a:solidFill>
          <a:ln w="12700">
            <a:solidFill>
              <a:srgbClr val="121F2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91440"/>
            <a:ext cx="8503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Q4  |  How Does Imbalance Handling Interact with Regularisation?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11480" y="777240"/>
            <a:ext cx="8412480" cy="438912"/>
          </a:xfrm>
          <a:prstGeom prst="rect">
            <a:avLst/>
          </a:prstGeom>
          <a:solidFill>
            <a:srgbClr val="1A2E3B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82296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F4A261"/>
                </a:solidFill>
              </a:rPr>
              <a:t>Imbalance handling has a LARGER effect on Recall than regularisation. But they interact in a dataset-size-dependent way.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74320" y="1371600"/>
            <a:ext cx="278892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371600"/>
            <a:ext cx="2788920" cy="457200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43560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UCI  (Medium — 8K)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9202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998B"/>
                </a:solidFill>
              </a:rPr>
              <a:t>Imbalance is the bottleneck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496312"/>
            <a:ext cx="109728" cy="10972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EF"/>
                </a:solidFill>
              </a:rPr>
              <a:t>Without handling: recall = 0.02 (all regularisers fail equally)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84048" y="3108960"/>
            <a:ext cx="109728" cy="10972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66928" y="29900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EF"/>
                </a:solidFill>
              </a:rPr>
              <a:t>With SMOTE/Undersampling: F1 jumps to ~0.44 regardless of L1/L2/EN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4048" y="3721608"/>
            <a:ext cx="109728" cy="10972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6928" y="360273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EF"/>
                </a:solidFill>
              </a:rPr>
              <a:t>Regulariser choice adds ±0.01 F1 on top of imbalance correction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4048" y="4334256"/>
            <a:ext cx="109728" cy="10972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421538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EF"/>
                </a:solidFill>
              </a:rPr>
              <a:t>Imbalance fix is 30× more impactful than regulariser choice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18688" y="1371600"/>
            <a:ext cx="278892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18688" y="1371600"/>
            <a:ext cx="2788920" cy="4572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143560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MIT  (Large — 11.5K)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310128" y="19202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84855"/>
                </a:solidFill>
              </a:rPr>
              <a:t>All techniques equivalent on large data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328416" y="2496312"/>
            <a:ext cx="109728" cy="10972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11296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EF"/>
                </a:solidFill>
              </a:rPr>
              <a:t>Pipeline B: all 4 techniques achieve F1 0.867–0.886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328416" y="3108960"/>
            <a:ext cx="109728" cy="10972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511296" y="29900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EF"/>
                </a:solidFill>
              </a:rPr>
              <a:t>Strong feature extraction reduces imbalance sensitivity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28416" y="3721608"/>
            <a:ext cx="109728" cy="10972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11296" y="360273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EF"/>
                </a:solidFill>
              </a:rPr>
              <a:t>Class Weighting wins marginally (F1=0.886) — no data modification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328416" y="4334256"/>
            <a:ext cx="109728" cy="109728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11296" y="421538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EF"/>
                </a:solidFill>
              </a:rPr>
              <a:t>Regulariser secondary when PCA reduces to 2 components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163056" y="1371600"/>
            <a:ext cx="2788920" cy="356616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63056" y="1371600"/>
            <a:ext cx="2788920" cy="4572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54496" y="1435608"/>
            <a:ext cx="2606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</a:rPr>
              <a:t>Bonn  (Small — 400)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54496" y="1920240"/>
            <a:ext cx="2606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4A261"/>
                </a:solidFill>
              </a:rPr>
              <a:t>Class Weighting safest on small datasets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272784" y="2496312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55664" y="2377440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EF"/>
                </a:solidFill>
              </a:rPr>
              <a:t>Undersampling → ~128 training samples → destabilises ALL regularisers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72784" y="3108960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55664" y="2990088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EF"/>
                </a:solidFill>
              </a:rPr>
              <a:t>SMOTE ties Class Weighting at F1=0.857 on Pipeline B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72784" y="3721608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55664" y="3602736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EF"/>
                </a:solidFill>
              </a:rPr>
              <a:t>SMOTE + L1: synthetic points may over-prune sparse coefficients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72784" y="4334256"/>
            <a:ext cx="109728" cy="10972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55664" y="4215384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ADCEF"/>
                </a:solidFill>
              </a:rPr>
              <a:t>Class Weighting + L2 = best combination (stable, full data used)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74320" y="4681728"/>
            <a:ext cx="8595360" cy="347472"/>
          </a:xfrm>
          <a:prstGeom prst="rect">
            <a:avLst/>
          </a:prstGeom>
          <a:solidFill>
            <a:srgbClr val="152535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718304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4A261"/>
                </a:solidFill>
              </a:rPr>
              <a:t>Best universal combination: Class Weighting + L2 — delivers stable F1 across all three datasets without modifying training data.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Summary &amp; Conclusions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6052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960120"/>
            <a:ext cx="411480" cy="41148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60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32688" y="9601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99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Preprocessing order is the #1 factor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630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EF"/>
                </a:solidFill>
              </a:rPr>
              <a:t>Pipeline B outperformed Pipeline A by up to F1 +0.592 (MIT). The effect scales with dimensionality. Statistical feature extraction (energy, IQR, MAD) is physiologically grounded and outperforms univariate SelectKBest on time-series data.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822960"/>
            <a:ext cx="416052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92040" y="960120"/>
            <a:ext cx="411480" cy="411480"/>
          </a:xfrm>
          <a:prstGeom prst="ellipse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92040" y="9601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13248" y="9601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85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 (Ridge) generalises most stably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46304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EF"/>
                </a:solidFill>
              </a:rPr>
              <a:t>Best or tied-best in 9 of 12 conditions. EEG features are correlated — L2's grouping effect distributes weight across them consistently. L1 is competitive and provides meaningful sparsity (30% on Bonn).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2788920"/>
            <a:ext cx="416052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926080"/>
            <a:ext cx="411480" cy="41148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32688" y="2926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Elastic Net does NOT consistently outperform L1/L2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4290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EF"/>
                </a:solidFill>
              </a:rPr>
              <a:t>Severely underperforms on UCI Pipeline A (F1=0.186 vs 0.448). Default l1_ratio=0.5 is inappropriate without tuning. Grid search over l1_ratio is mandatory for Elastic Net to be competitive.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54880" y="2788920"/>
            <a:ext cx="4160520" cy="1828800"/>
          </a:xfrm>
          <a:prstGeom prst="rect">
            <a:avLst/>
          </a:prstGeom>
          <a:solidFill>
            <a:srgbClr val="0D1B2A"/>
          </a:solidFill>
          <a:ln w="12700">
            <a:solidFill>
              <a:srgbClr val="A8D8D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92040" y="2926080"/>
            <a:ext cx="411480" cy="411480"/>
          </a:xfrm>
          <a:prstGeom prst="ellipse">
            <a:avLst/>
          </a:prstGeom>
          <a:solidFill>
            <a:srgbClr val="A8D8D0"/>
          </a:solidFill>
          <a:ln w="12700">
            <a:solidFill>
              <a:srgbClr val="A8D8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B2A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5413248" y="29260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8D8D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Imbalance handling effect is dataset-size dependent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429000"/>
            <a:ext cx="3840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ADCEF"/>
                </a:solidFill>
              </a:rPr>
              <a:t>Small datasets (Bonn): Class Weighting is safest — no data loss, no synthetic noise. Large datasets (MIT): all techniques equivalent. Medium (UCI): imbalance fix is 30× more impactful than regulariser choice.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74320" y="4773168"/>
            <a:ext cx="8595360" cy="256032"/>
          </a:xfrm>
          <a:prstGeom prst="rect">
            <a:avLst/>
          </a:prstGeom>
          <a:solidFill>
            <a:srgbClr val="0D1B2A"/>
          </a:solidFill>
          <a:ln w="12700">
            <a:solidFill>
              <a:srgbClr val="1B998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00600"/>
            <a:ext cx="84124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B998B"/>
                </a:solidFill>
              </a:rPr>
              <a:t>Best: UCI → Pipeline A/B + L2 + any  |  MIT → Pipeline B + L2 + Class Weighting (F1=0.886)  |  Bonn → Pipeline B + L2 + Class Weighting (F1=0.857)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1587</Words>
  <Application>Microsoft Office PowerPoint</Application>
  <PresentationFormat>On-screen Show (16:9)</PresentationFormat>
  <Paragraphs>262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Seizure Prediction: Preprocessing, Regularisation &amp; Imbalance</dc:title>
  <dc:subject>PptxGenJS Presentation</dc:subject>
  <dc:creator>Abbas</dc:creator>
  <cp:lastModifiedBy>HP</cp:lastModifiedBy>
  <cp:revision>2</cp:revision>
  <dcterms:created xsi:type="dcterms:W3CDTF">2026-05-19T06:26:53Z</dcterms:created>
  <dcterms:modified xsi:type="dcterms:W3CDTF">2026-05-19T10:12:16Z</dcterms:modified>
</cp:coreProperties>
</file>