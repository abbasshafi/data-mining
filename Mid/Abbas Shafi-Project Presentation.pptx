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Tit2unSXopsr331SewePKH8MK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1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2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3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1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3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4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1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5:notes"/>
          <p:cNvSpPr/>
          <p:nvPr>
            <p:ph idx="2" type="sldImg"/>
          </p:nvPr>
        </p:nvSpPr>
        <p:spPr>
          <a:xfrm>
            <a:off x="-47625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1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:notes"/>
          <p:cNvSpPr txBox="1"/>
          <p:nvPr>
            <p:ph idx="12" type="sldNum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9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4A5A"/>
          </a:solidFill>
          <a:ln cap="flat" cmpd="sng" w="12700">
            <a:solidFill>
              <a:srgbClr val="1A4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0"/>
            <a:ext cx="73152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132320" y="365760"/>
            <a:ext cx="1828800" cy="1828800"/>
          </a:xfrm>
          <a:prstGeom prst="ellipse">
            <a:avLst/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498080" y="2560320"/>
            <a:ext cx="1280160" cy="1280160"/>
          </a:xfrm>
          <a:prstGeom prst="ellipse">
            <a:avLst/>
          </a:prstGeom>
          <a:solidFill>
            <a:srgbClr val="02C39A">
              <a:alpha val="25098"/>
            </a:srgbClr>
          </a:solidFill>
          <a:ln cap="flat" cmpd="sng" w="12700">
            <a:solidFill>
              <a:srgbClr val="02C39A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949440" y="3474720"/>
            <a:ext cx="914400" cy="914400"/>
          </a:xfrm>
          <a:prstGeom prst="ellipse">
            <a:avLst/>
          </a:prstGeom>
          <a:solidFill>
            <a:srgbClr val="00A896">
              <a:alpha val="30196"/>
            </a:srgbClr>
          </a:solidFill>
          <a:ln cap="flat" cmpd="sng" w="12700">
            <a:solidFill>
              <a:srgbClr val="00A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0" y="4809744"/>
            <a:ext cx="67665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4299" y="580291"/>
            <a:ext cx="7183315" cy="2998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Predicting Chronic Kidney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Disease using Machine Learning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0040" y="488289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4299" y="3083111"/>
            <a:ext cx="3666394" cy="1799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b="0" i="0" lang="en-US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By: Abbas Shafi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About the Dataset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56032" y="969264"/>
            <a:ext cx="1993392" cy="107899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56032" y="1042416"/>
            <a:ext cx="1993392" cy="604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21,000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56032" y="1595079"/>
            <a:ext cx="1993392" cy="388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F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FEF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432304" y="969264"/>
            <a:ext cx="1993392" cy="1078992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432304" y="1042416"/>
            <a:ext cx="1993392" cy="604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432304" y="1595079"/>
            <a:ext cx="1993392" cy="388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F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FEF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08576" y="969264"/>
            <a:ext cx="1993392" cy="1078992"/>
          </a:xfrm>
          <a:prstGeom prst="rect">
            <a:avLst/>
          </a:prstGeom>
          <a:solidFill>
            <a:srgbClr val="04293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608576" y="1042416"/>
            <a:ext cx="1993392" cy="604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08576" y="1595079"/>
            <a:ext cx="1993392" cy="388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F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FEF"/>
                </a:solidFill>
                <a:latin typeface="Calibri"/>
                <a:ea typeface="Calibri"/>
                <a:cs typeface="Calibri"/>
                <a:sym typeface="Calibri"/>
              </a:rPr>
              <a:t>Original CKD Stages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784848" y="969264"/>
            <a:ext cx="1993392" cy="1078992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784848" y="1042416"/>
            <a:ext cx="1993392" cy="604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784848" y="1595079"/>
            <a:ext cx="1993392" cy="388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FE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FEF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56032" y="2212848"/>
            <a:ext cx="4187952" cy="2706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56032" y="2212848"/>
            <a:ext cx="4187952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47472" y="2304288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Groups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56032" y="2633472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47472" y="263347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Demographics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350008" y="263347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Age, Gender, BMI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56032" y="2944368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47472" y="294436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Blood Pressure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2350008" y="294436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Systolic_BP, Diastolic_BP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56032" y="3255264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47472" y="3255264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Renal Function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350008" y="3255264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eGFR, Creatinine, BUN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56032" y="3566160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47472" y="3566160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Urine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2350008" y="3566160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Albumin, Protein, ACR, SG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56032" y="3877056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47472" y="3877056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Haematology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350008" y="3877056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Hb, RBC, WBC, Platelets, PCV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56032" y="4187952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47472" y="418795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Metabolic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350008" y="418795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HbA1c, Glucose, Cholesterol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56032" y="4498848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47472" y="449884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Electrolytes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350008" y="449884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Na, K, Ca, P, Cl, HCO₃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56032" y="4809744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47472" y="4809744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Comorbidities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350008" y="4809744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Diabetes, Hypertension, Smoking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663440" y="2212848"/>
            <a:ext cx="4224528" cy="2706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663440" y="2212848"/>
            <a:ext cx="4224528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754880" y="2304288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Original Target Distribution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663440" y="2633472"/>
            <a:ext cx="4224528" cy="347472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4663440" y="2688336"/>
            <a:ext cx="64008" cy="23774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800600" y="263347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Healthy Kidney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995160" y="2633472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16,000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7680960" y="26334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75.0%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663440" y="3017520"/>
            <a:ext cx="42245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663440" y="3072384"/>
            <a:ext cx="64008" cy="23774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800600" y="301752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Mild CKD (Stage 1-2)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995160" y="3017520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 2,396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680960" y="301752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12.0%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4663440" y="3401568"/>
            <a:ext cx="4224528" cy="347472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663440" y="3456432"/>
            <a:ext cx="64008" cy="23774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4800600" y="34015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Moderate CKD (Stage 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995160" y="3401568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 1,325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7680960" y="340156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 6.6%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663440" y="3785616"/>
            <a:ext cx="42245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4663440" y="3840480"/>
            <a:ext cx="64008" cy="2377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800600" y="378561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Severe CKD (Stage 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995160" y="378561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   817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7680960" y="37856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 4.1%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663440" y="4169664"/>
            <a:ext cx="4224528" cy="347472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4663440" y="4224528"/>
            <a:ext cx="64008" cy="2377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800600" y="416966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Kidney Failure (St. 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995160" y="416966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   400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680960" y="416966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 2.0%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256032" y="4992624"/>
            <a:ext cx="8631936" cy="18288"/>
          </a:xfrm>
          <a:prstGeom prst="rect">
            <a:avLst/>
          </a:prstGeom>
          <a:solidFill>
            <a:srgbClr val="C8DD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Statistical Analysis &amp; EDA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56032" y="969264"/>
            <a:ext cx="52120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56032" y="969264"/>
            <a:ext cx="521208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47472" y="10607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Descriptive Statistics — Key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56032" y="1389888"/>
            <a:ext cx="5212080" cy="292608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56032" y="138988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176272" y="138988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907792" y="1389888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639312" y="138988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279392" y="138988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56032" y="1682496"/>
            <a:ext cx="5212080" cy="310896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92608" y="1682496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Age (years)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212848" y="1682496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52.04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944368" y="1682496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18.79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675888" y="1682496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315968" y="1682496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56032" y="1993392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292608" y="1993392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BMI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212848" y="1993392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26.00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944368" y="1993392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4.95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75888" y="1993392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315968" y="1993392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56032" y="2304288"/>
            <a:ext cx="5212080" cy="310896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92608" y="2304288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Systolic BP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212848" y="2304288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113.3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944368" y="2304288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19.0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675888" y="2304288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315968" y="2304288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189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56032" y="2615184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92608" y="2615184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eGFR (mL/min)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212848" y="2615184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91.9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2944368" y="2615184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26.7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675888" y="2615184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315968" y="2615184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119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56032" y="2926080"/>
            <a:ext cx="5212080" cy="310896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92608" y="2926080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Serum Creatinine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212848" y="2926080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 0.62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944368" y="2926080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1.45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675888" y="2926080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315968" y="2926080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 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256032" y="3236976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292608" y="3236976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HbA1c (%)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212848" y="3236976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 6.98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944368" y="3236976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1.71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675888" y="3236976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315968" y="3236976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56032" y="3547872"/>
            <a:ext cx="5212080" cy="310896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292608" y="3547872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Hemoglobin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212848" y="3547872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13.45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944368" y="3547872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2.30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675888" y="3547872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315968" y="3547872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16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256032" y="3858768"/>
            <a:ext cx="521208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92608" y="3858768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2212848" y="3858768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21.63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944368" y="3858768"/>
            <a:ext cx="6949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20.66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3675888" y="3858768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 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315968" y="3858768"/>
            <a:ext cx="603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149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637979" y="1069848"/>
            <a:ext cx="3236976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650992" y="969264"/>
            <a:ext cx="3236976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742432" y="1060704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Key EDA Findings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650992" y="1389888"/>
            <a:ext cx="3236976" cy="493776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742432" y="1417320"/>
            <a:ext cx="30540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5742432" y="1627632"/>
            <a:ext cx="30540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75% Healthy vs 25% CKD , 3:1 ratio requires balancing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650992" y="2112967"/>
            <a:ext cx="3236976" cy="493776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5769864" y="2166424"/>
            <a:ext cx="30540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Zero Missing Values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742432" y="2350008"/>
            <a:ext cx="30540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All 21,000 rows complete , no imputation needed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5637979" y="2834640"/>
            <a:ext cx="3236976" cy="493776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5769864" y="2900406"/>
            <a:ext cx="30540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Synthetic Boundaries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5749466" y="3081528"/>
            <a:ext cx="30540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Multiple features had hard non-overlapping class ranges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256032" y="4315968"/>
            <a:ext cx="8631936" cy="475488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347472" y="4315968"/>
            <a:ext cx="844905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Note on Synthetic Data: Many features show perfectly non-overlapping ranges between classes (e.g., eGFR: Healthy=90–119, CKD=5–89 with zero overlap). This is characteristic of programmatically generated data — feature values were assigned based on the target label, not independently measured.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EDA Visualizations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256032" y="969264"/>
            <a:ext cx="4187952" cy="2011680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1069848" y="1700784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1069848" y="170078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Whisker Plot: Hemoglobin (CKD vs Healthy)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256032" y="2322576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700016" y="969264"/>
            <a:ext cx="4187952" cy="2011680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513832" y="1700784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5513832" y="170078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eGFR vs Serum Creatinine (by CKD class)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700016" y="2322576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56032" y="3127248"/>
            <a:ext cx="8631936" cy="1737360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3291840" y="3721608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291840" y="372160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Correlation Heatmap of Key Clinical Markers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56032" y="4343400"/>
            <a:ext cx="8631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ownloads\lvl.jpg" id="203" name="Google Shape;2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7824"/>
            <a:ext cx="4572000" cy="4265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ownloads\creat.jpg" id="204" name="Google Shape;2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877824"/>
            <a:ext cx="4572000" cy="426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Binarization &amp; Class Balancing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256032" y="969264"/>
            <a:ext cx="4187952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256032" y="969264"/>
            <a:ext cx="4187952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256032" y="969264"/>
            <a:ext cx="4187952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347472" y="969264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1 — Target Binarization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47472" y="1435608"/>
            <a:ext cx="4005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5 classes collapsed into 2 binary labels: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47472" y="1737360"/>
            <a:ext cx="3931920" cy="310896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38912" y="173736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Healthy Kidney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2450592" y="173736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  0  Healthy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47472" y="2084832"/>
            <a:ext cx="3931920" cy="310896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38912" y="2084832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Mild CKD (Stage 1-2)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450592" y="2084832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 1  Non-Healthy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47472" y="2432304"/>
            <a:ext cx="3931920" cy="310896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38912" y="2432304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Moderate CKD (Stage 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450592" y="2432304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 1  Non-Healthy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47472" y="2779776"/>
            <a:ext cx="3931920" cy="310896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38912" y="2779776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Severe CKD (Stage 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450592" y="2779776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 1  Non-Healthy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47472" y="3127248"/>
            <a:ext cx="3931920" cy="310896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38912" y="312724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Kidney Failure (St. 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450592" y="312724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 1  Non-Healthy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47472" y="385876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Why binarize? The clinical screening question is: does this patient have any kidney disease? All CKD stages represent disease,  the binary boundary is the most actionable decision.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663440" y="969264"/>
            <a:ext cx="4224528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663440" y="969264"/>
            <a:ext cx="4224528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4663440" y="969264"/>
            <a:ext cx="4224528" cy="38404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754880" y="969264"/>
            <a:ext cx="4041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Step 2 — Majority Undersampling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754880" y="1435608"/>
            <a:ext cx="4041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Before balancing: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663440" y="1719072"/>
            <a:ext cx="4224528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4754880" y="1719072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Healthy (0)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775704" y="1719072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15,000  (75%)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663440" y="2048256"/>
            <a:ext cx="4224528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4754880" y="2048256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Non-Healthy (1)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775704" y="2048256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5,256  (25%)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4754880" y="2450592"/>
            <a:ext cx="4041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After undersampling: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4663440" y="2724912"/>
            <a:ext cx="4224528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4754880" y="2724912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Healthy (0)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6775704" y="2724912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6,000  (55%)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4663440" y="3054096"/>
            <a:ext cx="4224528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754880" y="3054096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Non-Healthy (1)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775704" y="3054096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5,256  (45%)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663440" y="3383280"/>
            <a:ext cx="4224528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4754880" y="3383280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6775704" y="3383280"/>
            <a:ext cx="2027773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11,256  (100%)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754880" y="3749040"/>
            <a:ext cx="4041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Why undersample and not SMOTE?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773168" y="4069080"/>
            <a:ext cx="128016" cy="12801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4974336" y="4023360"/>
            <a:ext cx="3730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no synthetic data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773168" y="4361688"/>
            <a:ext cx="128016" cy="12801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4974336" y="4315968"/>
            <a:ext cx="3730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Near-balanced 55:45 ratio, sufficient for fair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 Distribution After Balancing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371600" y="1097280"/>
            <a:ext cx="6400800" cy="3474720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3291840" y="2560320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291840" y="25603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Bar Chart: Class Distribution After Undersampling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371600" y="318211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ownloads\classdistsampling.jpg" id="274" name="Google Shape;2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097279"/>
            <a:ext cx="6400800" cy="3474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Preprocessing Pipeline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256032" y="969264"/>
            <a:ext cx="4206240" cy="19933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256032" y="969264"/>
            <a:ext cx="420624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384048" y="1133856"/>
            <a:ext cx="347472" cy="347472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384048" y="11338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22960" y="1115568"/>
            <a:ext cx="3547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Categorical Encoding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84048" y="149961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4 binary columns converted to integers 1 and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84048" y="1865376"/>
            <a:ext cx="3950208" cy="219456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420624" y="186537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28090"/>
                </a:solidFill>
                <a:latin typeface="Courier New"/>
                <a:ea typeface="Courier New"/>
                <a:cs typeface="Courier New"/>
                <a:sym typeface="Courier New"/>
              </a:rPr>
              <a:t>df[col] = df[col].map({'Yes': 1, 'No': 0})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84048" y="213969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Diabetes · Hypertension · Smoking_Status · Family_History_Kidney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718304" y="969264"/>
            <a:ext cx="4206240" cy="19933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4718304" y="969264"/>
            <a:ext cx="4206240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4846320" y="1133856"/>
            <a:ext cx="347472" cy="347472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846320" y="11338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285232" y="1115568"/>
            <a:ext cx="3547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Feature/Target Separation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846320" y="149961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Target column separated from feature matrix before any modelling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846320" y="1865376"/>
            <a:ext cx="3950208" cy="219456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4882896" y="186537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0A896"/>
                </a:solidFill>
                <a:latin typeface="Courier New"/>
                <a:ea typeface="Courier New"/>
                <a:cs typeface="Courier New"/>
                <a:sym typeface="Courier New"/>
              </a:rPr>
              <a:t>X = df.drop('Target_Binary')   |   y = df['Target_Binary']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846320" y="213969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Final shape: 11,000 rows × 22 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56032" y="3072384"/>
            <a:ext cx="4206240" cy="19933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256032" y="3072384"/>
            <a:ext cx="4206240" cy="4572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384048" y="3236976"/>
            <a:ext cx="347472" cy="347472"/>
          </a:xfrm>
          <a:prstGeom prst="ellipse">
            <a:avLst/>
          </a:prstGeom>
          <a:solidFill>
            <a:srgbClr val="04293A"/>
          </a:solidFill>
          <a:ln cap="flat" cmpd="sng" w="12700">
            <a:solidFill>
              <a:srgbClr val="0429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384048" y="32369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822960" y="3218688"/>
            <a:ext cx="3547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Stratified K-Fold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84048" y="360273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Data split into 5 folds preserving 55:45 class ratio in every fold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84048" y="3968496"/>
            <a:ext cx="3950208" cy="219456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429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20624" y="396849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4293A"/>
                </a:solidFill>
                <a:latin typeface="Courier New"/>
                <a:ea typeface="Courier New"/>
                <a:cs typeface="Courier New"/>
                <a:sym typeface="Courier New"/>
              </a:rPr>
              <a:t>StratifiedKFold(n_splits=5, shuffle=True, random_state=42)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84048" y="424281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Every sample used for testing exactly once across 5 rotations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718304" y="3072384"/>
            <a:ext cx="4206240" cy="19933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4718304" y="3072384"/>
            <a:ext cx="420624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4846320" y="3236976"/>
            <a:ext cx="347472" cy="347472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4846320" y="32369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285232" y="3218688"/>
            <a:ext cx="3547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StandardScaler in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4846320" y="360273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Scaler fits on each fold's training data only,  applied inside Pipeline to prevent leakage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4846320" y="3968496"/>
            <a:ext cx="3950208" cy="219456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4882896" y="396849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02C39A"/>
                </a:solidFill>
                <a:latin typeface="Courier New"/>
                <a:ea typeface="Courier New"/>
                <a:cs typeface="Courier New"/>
                <a:sym typeface="Courier New"/>
              </a:rPr>
              <a:t>Pipeline([('scaler', StandardScaler()), ('model', clf)])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4846320" y="4242816"/>
            <a:ext cx="3950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K-Fold Over Train-Test Split?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256032" y="969264"/>
            <a:ext cx="4160520" cy="32552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256032" y="969264"/>
            <a:ext cx="41605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256032" y="969264"/>
            <a:ext cx="416052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347472" y="969264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Traditional Train-Test 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56032" y="1408176"/>
            <a:ext cx="4160520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47472" y="1408176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336292" y="1408176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Fixed 80/20,one snapshot of 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56032" y="1792224"/>
            <a:ext cx="416052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347472" y="1792224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336292" y="1792224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Result depends heavily on random_state chosen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256032" y="2176272"/>
            <a:ext cx="4160520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347472" y="2176272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Data 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2336292" y="2176272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20% of data never used for training at 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256032" y="2560320"/>
            <a:ext cx="416052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347472" y="2560320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2336292" y="2560320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Single score, no measure of model stability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56032" y="2944368"/>
            <a:ext cx="4160520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347472" y="2944368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2336292" y="2944368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Model may overfit the one specific test 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347472" y="3346704"/>
            <a:ext cx="3886200" cy="438912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420624" y="3346704"/>
            <a:ext cx="3739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Result: Single score with unknown reliability.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727448" y="969264"/>
            <a:ext cx="4160520" cy="32552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4727448" y="969264"/>
            <a:ext cx="416052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4727448" y="969264"/>
            <a:ext cx="41605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4818888" y="969264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Stratified 5-Fold Cross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727448" y="1408176"/>
            <a:ext cx="4160520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4818888" y="1408176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Folds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807708" y="1408176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5 rotations, every sample tested exactly once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727448" y="1792224"/>
            <a:ext cx="416052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4818888" y="1792224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807708" y="1792224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Mean ± Std reported, stability is measured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727448" y="2176272"/>
            <a:ext cx="4160520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4818888" y="2176272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Data 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6807708" y="2176272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100% of data used for both training and testing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727448" y="2560320"/>
            <a:ext cx="416052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4818888" y="2560320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807708" y="2560320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5 scores averaged, far more robust estimate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727448" y="2944368"/>
            <a:ext cx="4160520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4818888" y="2944368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Stratified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6807708" y="2944368"/>
            <a:ext cx="199705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Each fold preserves 55:45 class ratio exactly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4818888" y="3346704"/>
            <a:ext cx="3886200" cy="438912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4892040" y="3346704"/>
            <a:ext cx="37398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More honest and reproducible evaluation of model performance.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256032" y="4297680"/>
            <a:ext cx="86319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50"/>
              <a:buFont typeface="Trebuchet MS"/>
              <a:buNone/>
            </a:pPr>
            <a:r>
              <a:rPr b="1" i="0" lang="en-US" sz="105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How K-Fold Works: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256032" y="4535424"/>
            <a:ext cx="1261872" cy="173736"/>
          </a:xfrm>
          <a:prstGeom prst="rect">
            <a:avLst/>
          </a:prstGeom>
          <a:solidFill>
            <a:srgbClr val="02809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256032" y="4535424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1536192" y="4535424"/>
            <a:ext cx="1261872" cy="173736"/>
          </a:xfrm>
          <a:prstGeom prst="rect">
            <a:avLst/>
          </a:prstGeom>
          <a:solidFill>
            <a:srgbClr val="C8DD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1536192" y="4535424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2816352" y="4535424"/>
            <a:ext cx="1261872" cy="173736"/>
          </a:xfrm>
          <a:prstGeom prst="rect">
            <a:avLst/>
          </a:prstGeom>
          <a:solidFill>
            <a:srgbClr val="C8DD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2816352" y="4535424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4096512" y="4535424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5376672" y="4535424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4407408" y="4553712"/>
            <a:ext cx="6400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Fold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256032" y="4727448"/>
            <a:ext cx="1261872" cy="173736"/>
          </a:xfrm>
          <a:prstGeom prst="rect">
            <a:avLst/>
          </a:prstGeom>
          <a:solidFill>
            <a:srgbClr val="C8DD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256032" y="4727448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536192" y="4727448"/>
            <a:ext cx="1261872" cy="173736"/>
          </a:xfrm>
          <a:prstGeom prst="rect">
            <a:avLst/>
          </a:prstGeom>
          <a:solidFill>
            <a:srgbClr val="00A896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1536192" y="4727448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2816352" y="4727448"/>
            <a:ext cx="1261872" cy="173736"/>
          </a:xfrm>
          <a:prstGeom prst="rect">
            <a:avLst/>
          </a:prstGeom>
          <a:solidFill>
            <a:srgbClr val="C8DD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2816352" y="4727448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096512" y="4727448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5376672" y="4727448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4407408" y="4745736"/>
            <a:ext cx="6400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Fold 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256032" y="4919472"/>
            <a:ext cx="1261872" cy="173736"/>
          </a:xfrm>
          <a:prstGeom prst="rect">
            <a:avLst/>
          </a:prstGeom>
          <a:solidFill>
            <a:srgbClr val="C8DD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256032" y="4919472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1536192" y="4919472"/>
            <a:ext cx="1261872" cy="173736"/>
          </a:xfrm>
          <a:prstGeom prst="rect">
            <a:avLst/>
          </a:prstGeom>
          <a:solidFill>
            <a:srgbClr val="C8DD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1536192" y="4919472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2816352" y="4919472"/>
            <a:ext cx="1261872" cy="173736"/>
          </a:xfrm>
          <a:prstGeom prst="rect">
            <a:avLst/>
          </a:prstGeom>
          <a:solidFill>
            <a:srgbClr val="04293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2816352" y="4919472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096512" y="4919472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5376672" y="4919472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416552" y="4919472"/>
            <a:ext cx="6400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Fold 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256032" y="511149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1536192" y="511149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2816352" y="511149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4096512" y="511149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5376672" y="5111496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6693408" y="5111496"/>
            <a:ext cx="64008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256032" y="5303520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1536192" y="5303520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2816352" y="5303520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4096512" y="5303520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5376672" y="5303520"/>
            <a:ext cx="1261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Correlation &amp; Selection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347472" y="969264"/>
            <a:ext cx="844905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Rule: Drop only if HIGH correlation AND confirmed perfect separator (zero range overlap between Healthy and Non-Healthy classes) — this indicates data leakage, not genuine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256032" y="1426464"/>
            <a:ext cx="5074920" cy="34015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256032" y="1426464"/>
            <a:ext cx="50749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256032" y="1426464"/>
            <a:ext cx="5074920" cy="329184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292608" y="1426464"/>
            <a:ext cx="23957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2724912" y="1426464"/>
            <a:ext cx="566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3310128" y="14264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Dropped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256032" y="1755648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310896" y="175564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eGFR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2724912" y="175564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-0.82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3310128" y="175564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Defines CKD clinically — perfect separator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256032" y="1956816"/>
            <a:ext cx="507492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310896" y="195681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Serum_Albumin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2724912" y="195681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-0.88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3310128" y="195681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All Healthy=4.0 exactly — machine generated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256032" y="2157984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310896" y="215798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Systolic_BP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2724912" y="215798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+0.81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3310128" y="215798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Healthy:90-119, CKD:120-189 — zero overlap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256032" y="2359152"/>
            <a:ext cx="507492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310896" y="23591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Diastolic_BP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2724912" y="235915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+0.83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3310128" y="235915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Healthy:60-79, CKD:80-119 — zero overlap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256032" y="2560320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310896" y="256032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Hemoglobin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2724912" y="256032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-0.78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3310128" y="256032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Near-perfect separator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256032" y="2761488"/>
            <a:ext cx="507492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310896" y="27614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Bicarbonate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2724912" y="276148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-0.74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3310128" y="276148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Near-perfect separator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256032" y="2962656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310896" y="296265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Packed_Cell_Volume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2724912" y="296265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-0.73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3310128" y="296265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Derived from Hemoglobin — redundant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256032" y="3163824"/>
            <a:ext cx="507492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310896" y="31638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Phosphorus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2724912" y="316382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+0.72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3310128" y="316382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Near-perfect separator confirmed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256032" y="3364992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310896" y="336499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Serum_Creatinine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2724912" y="3364992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+0.67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3310128" y="336499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Healthy all=0, CKD:1-9 — zero overlap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256032" y="3566160"/>
            <a:ext cx="507492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310896" y="35661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Blood_Urea_Nitrogen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2724912" y="3566160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+0.67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3310128" y="35661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Healthy:7-19, CKD:20-149 — zero overlap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256032" y="3767328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0"/>
          <p:cNvSpPr/>
          <p:nvPr/>
        </p:nvSpPr>
        <p:spPr>
          <a:xfrm>
            <a:off x="310896" y="376732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Urine_Albumin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/>
          <p:nvPr/>
        </p:nvSpPr>
        <p:spPr>
          <a:xfrm>
            <a:off x="2724912" y="3767328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+0.58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3310128" y="376732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Perfect separator even after transform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256032" y="3968496"/>
            <a:ext cx="5074920" cy="201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310896" y="396849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Urine_Protein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2724912" y="3968496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+0.57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3310128" y="3968496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Perfect separator even after transform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256032" y="4169664"/>
            <a:ext cx="5074920" cy="201168"/>
          </a:xfrm>
          <a:prstGeom prst="rect">
            <a:avLst/>
          </a:prstGeom>
          <a:solidFill>
            <a:srgbClr val="FDECEA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0"/>
          <p:cNvSpPr/>
          <p:nvPr/>
        </p:nvSpPr>
        <p:spPr>
          <a:xfrm>
            <a:off x="310896" y="416966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Albumin_Creatinine_Ratio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2724912" y="416966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+0.54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3310128" y="4169664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Perfect separator even after transform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5532120" y="1426464"/>
            <a:ext cx="3355848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5532120" y="1426464"/>
            <a:ext cx="3355848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5532120" y="1426464"/>
            <a:ext cx="3355848" cy="32918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0"/>
          <p:cNvSpPr/>
          <p:nvPr/>
        </p:nvSpPr>
        <p:spPr>
          <a:xfrm>
            <a:off x="5623560" y="1426464"/>
            <a:ext cx="31729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Kept (22 features)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5532120" y="1755648"/>
            <a:ext cx="3355848" cy="132588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0"/>
          <p:cNvSpPr/>
          <p:nvPr/>
        </p:nvSpPr>
        <p:spPr>
          <a:xfrm>
            <a:off x="5596128" y="1755648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Potassium (0.443)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5532120" y="1888236"/>
            <a:ext cx="3355848" cy="1325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5596128" y="1888236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HbA1c (0.019)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5532120" y="2020824"/>
            <a:ext cx="3355848" cy="132588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5596128" y="2020824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Hypertension (0.018)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5532120" y="2153412"/>
            <a:ext cx="3355848" cy="1325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0"/>
          <p:cNvSpPr/>
          <p:nvPr/>
        </p:nvSpPr>
        <p:spPr>
          <a:xfrm>
            <a:off x="5596128" y="2153412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Diabetes (0.017)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5532120" y="2286000"/>
            <a:ext cx="3355848" cy="132588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0"/>
          <p:cNvSpPr/>
          <p:nvPr/>
        </p:nvSpPr>
        <p:spPr>
          <a:xfrm>
            <a:off x="5596128" y="2286000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Age (0.017)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5532120" y="2418588"/>
            <a:ext cx="3355848" cy="1325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5596128" y="2418588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Urine Specific Gravity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5532120" y="2551176"/>
            <a:ext cx="3355848" cy="132588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0"/>
          <p:cNvSpPr/>
          <p:nvPr/>
        </p:nvSpPr>
        <p:spPr>
          <a:xfrm>
            <a:off x="5596128" y="2551176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Smoking Status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5532120" y="2683764"/>
            <a:ext cx="3355848" cy="1325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0"/>
          <p:cNvSpPr/>
          <p:nvPr/>
        </p:nvSpPr>
        <p:spPr>
          <a:xfrm>
            <a:off x="5596128" y="2683764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Fasting Glucose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5532120" y="2816352"/>
            <a:ext cx="3355848" cy="132588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5596128" y="2816352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WBC Count, Cholesterol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5532120" y="2948940"/>
            <a:ext cx="3355848" cy="1325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0"/>
          <p:cNvSpPr/>
          <p:nvPr/>
        </p:nvSpPr>
        <p:spPr>
          <a:xfrm>
            <a:off x="5596128" y="2948940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BMI, Gender, Heart Rate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5532120" y="3081528"/>
            <a:ext cx="3355848" cy="132588"/>
          </a:xfrm>
          <a:prstGeom prst="rect">
            <a:avLst/>
          </a:prstGeom>
          <a:solidFill>
            <a:srgbClr val="D6F5EE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0"/>
          <p:cNvSpPr/>
          <p:nvPr/>
        </p:nvSpPr>
        <p:spPr>
          <a:xfrm>
            <a:off x="5596128" y="3081528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Sodium, Chloride, Calcium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5532120" y="3214116"/>
            <a:ext cx="3355848" cy="1325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0"/>
          <p:cNvSpPr/>
          <p:nvPr/>
        </p:nvSpPr>
        <p:spPr>
          <a:xfrm>
            <a:off x="5596128" y="3214116"/>
            <a:ext cx="3227832" cy="132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+ 10 more overlapping features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5532120" y="3456432"/>
            <a:ext cx="3355848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0"/>
          <p:cNvSpPr/>
          <p:nvPr/>
        </p:nvSpPr>
        <p:spPr>
          <a:xfrm>
            <a:off x="5532120" y="3456432"/>
            <a:ext cx="3355848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"/>
          <p:cNvSpPr/>
          <p:nvPr/>
        </p:nvSpPr>
        <p:spPr>
          <a:xfrm>
            <a:off x="5623560" y="3547872"/>
            <a:ext cx="3172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Important Note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5623560" y="3822192"/>
            <a:ext cx="317296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These features are clinically valid in real datasets. They were dropped only because this synthetic dataset assigned values from the target label — reversing the cause-effect direction. In real clinical data, keep all of them.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Correlation with Target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1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256032" y="969264"/>
            <a:ext cx="8631936" cy="3840480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1"/>
          <p:cNvSpPr/>
          <p:nvPr/>
        </p:nvSpPr>
        <p:spPr>
          <a:xfrm>
            <a:off x="3291840" y="2615184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3291840" y="2615184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Correlation Heatmap / Bar Chart of Feature-Target Correlations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256032" y="3236976"/>
            <a:ext cx="8631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256032" y="4919472"/>
            <a:ext cx="8631936" cy="146304"/>
          </a:xfrm>
          <a:prstGeom prst="rect">
            <a:avLst/>
          </a:prstGeom>
          <a:solidFill>
            <a:srgbClr val="C8DD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HP\Downloads\heatmap.jpg" id="525" name="Google Shape;5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7824"/>
            <a:ext cx="9144000" cy="426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Training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256032" y="969264"/>
            <a:ext cx="4187952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256032" y="969264"/>
            <a:ext cx="4187952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256032" y="969264"/>
            <a:ext cx="4187952" cy="40233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347472" y="969264"/>
            <a:ext cx="40050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1: Logistic Regression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347472" y="1463040"/>
            <a:ext cx="4005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347472" y="1719072"/>
            <a:ext cx="4005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Models the probability that a patient has CKD using a linear combination of all 22 features passed through a sigmoid function. Outputs a probability between 0 and 1 — patients above 0.5 threshold classified as Non-Healthy.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2"/>
          <p:cNvSpPr/>
          <p:nvPr/>
        </p:nvSpPr>
        <p:spPr>
          <a:xfrm>
            <a:off x="347472" y="2414016"/>
            <a:ext cx="3913632" cy="27432"/>
          </a:xfrm>
          <a:prstGeom prst="rect">
            <a:avLst/>
          </a:prstGeom>
          <a:solidFill>
            <a:srgbClr val="C8DD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347472" y="2487168"/>
            <a:ext cx="4005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Hyperparameters: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256032" y="2761488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347472" y="276148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Solver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2350008" y="276148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lbfgs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256032" y="3090672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347472" y="309067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Max Iterations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2350008" y="309067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1,000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2"/>
          <p:cNvSpPr/>
          <p:nvPr/>
        </p:nvSpPr>
        <p:spPr>
          <a:xfrm>
            <a:off x="256032" y="3419856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347472" y="3419856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Regularisation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2350008" y="3419856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L2  (C = 1.0)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256032" y="3749040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347472" y="3749040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Class Weight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2350008" y="3749040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347472" y="4114800"/>
            <a:ext cx="3913632" cy="512064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420624" y="4133088"/>
            <a:ext cx="37673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preferred: Feature coefficients directly show which biomarkers increase or decrease CKD probability — clinically interpretable and reproducible.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4700016" y="969264"/>
            <a:ext cx="4187952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4700016" y="969264"/>
            <a:ext cx="4187952" cy="4572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4700016" y="969264"/>
            <a:ext cx="4187952" cy="402336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4791456" y="969264"/>
            <a:ext cx="400507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2: Decision Tree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4791456" y="1463040"/>
            <a:ext cx="4005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How it works: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4791456" y="1719072"/>
            <a:ext cx="40050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Recursively splits the feature space by asking yes/no questions about feature values, selecting the split that best separates Healthy from Non-Healthy patients at each node using Gini impurity. Depth limited to 5 to prevent memorisation.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4791456" y="2414016"/>
            <a:ext cx="3913632" cy="27432"/>
          </a:xfrm>
          <a:prstGeom prst="rect">
            <a:avLst/>
          </a:prstGeom>
          <a:solidFill>
            <a:srgbClr val="C8DD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4791456" y="2487168"/>
            <a:ext cx="40050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Hyperparameters: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4700016" y="2761488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4791456" y="276148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6793992" y="2761488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Gini impurity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2"/>
          <p:cNvSpPr/>
          <p:nvPr/>
        </p:nvSpPr>
        <p:spPr>
          <a:xfrm>
            <a:off x="4700016" y="3090672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2"/>
          <p:cNvSpPr/>
          <p:nvPr/>
        </p:nvSpPr>
        <p:spPr>
          <a:xfrm>
            <a:off x="4791456" y="309067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Max Depth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6793992" y="3090672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5 (prevents overfitting)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2"/>
          <p:cNvSpPr/>
          <p:nvPr/>
        </p:nvSpPr>
        <p:spPr>
          <a:xfrm>
            <a:off x="4700016" y="3419856"/>
            <a:ext cx="4187952" cy="329184"/>
          </a:xfrm>
          <a:prstGeom prst="rect">
            <a:avLst/>
          </a:prstGeom>
          <a:solidFill>
            <a:srgbClr val="E8F4F5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2"/>
          <p:cNvSpPr/>
          <p:nvPr/>
        </p:nvSpPr>
        <p:spPr>
          <a:xfrm>
            <a:off x="4791456" y="3419856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Min Samples Leaf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6793992" y="3419856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4700016" y="3749040"/>
            <a:ext cx="4187952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2"/>
          <p:cNvSpPr/>
          <p:nvPr/>
        </p:nvSpPr>
        <p:spPr>
          <a:xfrm>
            <a:off x="4791456" y="3749040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Class Weight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6793992" y="3749040"/>
            <a:ext cx="201021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4791456" y="4114800"/>
            <a:ext cx="3913632" cy="512064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429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4864608" y="4133088"/>
            <a:ext cx="37673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Why included: Captures non-linear relationships without needing feature scaling. Serves as a comparison baseline — similar results to LR would confirm the feature set has genuine consistent signal.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Experimental Results — 5-Fold CV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256032" y="969264"/>
            <a:ext cx="8631936" cy="329184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256032" y="96926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2176272" y="96926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/>
          <p:nvPr/>
        </p:nvSpPr>
        <p:spPr>
          <a:xfrm>
            <a:off x="3547872" y="9692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4736592" y="9692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5925312" y="9692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7114032" y="9692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256032" y="1298448"/>
            <a:ext cx="8631936" cy="384048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256032" y="12984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2176272" y="12984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0.8861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3547872" y="12984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1.0000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4736592" y="12984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0.7561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5925312" y="12984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0.8611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3"/>
          <p:cNvSpPr/>
          <p:nvPr/>
        </p:nvSpPr>
        <p:spPr>
          <a:xfrm>
            <a:off x="7114032" y="1298448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256032" y="1682496"/>
            <a:ext cx="8631936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256032" y="1682496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2176272" y="168249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0.8846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3547872" y="16824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0.9943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4736592" y="16824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0.7572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5925312" y="16824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0.8603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7114032" y="1682496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256032" y="2103120"/>
            <a:ext cx="8631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Mean scores across 5 stratified folds  ·  StratifiedKFold(K=5, random_state=42)  ·  Pipeline: StandardScaler +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256032" y="2414016"/>
            <a:ext cx="4187952" cy="23957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256032" y="2414016"/>
            <a:ext cx="4187952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3"/>
          <p:cNvSpPr/>
          <p:nvPr/>
        </p:nvSpPr>
        <p:spPr>
          <a:xfrm>
            <a:off x="347472" y="2505456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Logistic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/>
          <p:nvPr/>
        </p:nvSpPr>
        <p:spPr>
          <a:xfrm>
            <a:off x="347472" y="3067460"/>
            <a:ext cx="128016" cy="128016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3"/>
          <p:cNvSpPr/>
          <p:nvPr/>
        </p:nvSpPr>
        <p:spPr>
          <a:xfrm>
            <a:off x="519450" y="2976020"/>
            <a:ext cx="8156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Precision = 1.0 — every CKD prediction is correct, zero false positives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372090" y="3725125"/>
            <a:ext cx="128016" cy="12801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3"/>
          <p:cNvSpPr/>
          <p:nvPr/>
        </p:nvSpPr>
        <p:spPr>
          <a:xfrm>
            <a:off x="519450" y="3611880"/>
            <a:ext cx="8156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Recall = 0.756 — misses 24% of actual CKD cases (false negatives)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3"/>
          <p:cNvSpPr/>
          <p:nvPr/>
        </p:nvSpPr>
        <p:spPr>
          <a:xfrm>
            <a:off x="548640" y="3785616"/>
            <a:ext cx="8156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3"/>
          <p:cNvSpPr/>
          <p:nvPr/>
        </p:nvSpPr>
        <p:spPr>
          <a:xfrm>
            <a:off x="347472" y="4306824"/>
            <a:ext cx="128016" cy="128016"/>
          </a:xfrm>
          <a:prstGeom prst="ellipse">
            <a:avLst/>
          </a:prstGeom>
          <a:solidFill>
            <a:srgbClr val="4A6572"/>
          </a:solidFill>
          <a:ln cap="flat" cmpd="sng" w="12700">
            <a:solidFill>
              <a:srgbClr val="4A65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3"/>
          <p:cNvSpPr/>
          <p:nvPr/>
        </p:nvSpPr>
        <p:spPr>
          <a:xfrm>
            <a:off x="548640" y="4261104"/>
            <a:ext cx="81564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Clinical: safe to act on every positive prediction it makes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3"/>
          <p:cNvSpPr/>
          <p:nvPr/>
        </p:nvSpPr>
        <p:spPr>
          <a:xfrm>
            <a:off x="4700016" y="2414016"/>
            <a:ext cx="4187952" cy="23957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3"/>
          <p:cNvSpPr/>
          <p:nvPr/>
        </p:nvSpPr>
        <p:spPr>
          <a:xfrm>
            <a:off x="4700016" y="2414016"/>
            <a:ext cx="4187952" cy="45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3"/>
          <p:cNvSpPr/>
          <p:nvPr/>
        </p:nvSpPr>
        <p:spPr>
          <a:xfrm>
            <a:off x="4791456" y="2505456"/>
            <a:ext cx="40050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Decision Tree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3"/>
          <p:cNvSpPr/>
          <p:nvPr/>
        </p:nvSpPr>
        <p:spPr>
          <a:xfrm>
            <a:off x="4791456" y="3103333"/>
            <a:ext cx="128016" cy="128016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4992624" y="3011893"/>
            <a:ext cx="37124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Precision = 0.994 — near-perfect, only 0.6% false positive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4791456" y="3725125"/>
            <a:ext cx="128016" cy="12801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3"/>
          <p:cNvSpPr/>
          <p:nvPr/>
        </p:nvSpPr>
        <p:spPr>
          <a:xfrm>
            <a:off x="4992624" y="3611880"/>
            <a:ext cx="37124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Recall = 0.757 — almost identical to LR, misses similar CKD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3"/>
          <p:cNvSpPr/>
          <p:nvPr/>
        </p:nvSpPr>
        <p:spPr>
          <a:xfrm>
            <a:off x="4992624" y="3785616"/>
            <a:ext cx="37124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3"/>
          <p:cNvSpPr/>
          <p:nvPr/>
        </p:nvSpPr>
        <p:spPr>
          <a:xfrm>
            <a:off x="4791456" y="4306824"/>
            <a:ext cx="128016" cy="128016"/>
          </a:xfrm>
          <a:prstGeom prst="ellipse">
            <a:avLst/>
          </a:prstGeom>
          <a:solidFill>
            <a:srgbClr val="4A6572"/>
          </a:solidFill>
          <a:ln cap="flat" cmpd="sng" w="12700">
            <a:solidFill>
              <a:srgbClr val="4A65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3"/>
          <p:cNvSpPr/>
          <p:nvPr/>
        </p:nvSpPr>
        <p:spPr>
          <a:xfrm>
            <a:off x="4992624" y="4261104"/>
            <a:ext cx="37124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4293A"/>
                </a:solidFill>
                <a:latin typeface="Calibri"/>
                <a:ea typeface="Calibri"/>
                <a:cs typeface="Calibri"/>
                <a:sym typeface="Calibri"/>
              </a:rPr>
              <a:t>Near-identical to LR confirms 22 features carry consistent signal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3"/>
          <p:cNvSpPr/>
          <p:nvPr/>
        </p:nvSpPr>
        <p:spPr>
          <a:xfrm>
            <a:off x="256032" y="4882896"/>
            <a:ext cx="8631936" cy="164592"/>
          </a:xfrm>
          <a:prstGeom prst="rect">
            <a:avLst/>
          </a:prstGeom>
          <a:solidFill>
            <a:srgbClr val="D6ED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347472" y="4882896"/>
            <a:ext cx="84490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See next slides: Confusion matrices · Metrics bar chart (5-fold means)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8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29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4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Evaluation Plots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4"/>
          <p:cNvSpPr/>
          <p:nvPr/>
        </p:nvSpPr>
        <p:spPr>
          <a:xfrm>
            <a:off x="7498080" y="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256032" y="969264"/>
            <a:ext cx="2651760" cy="2340864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4"/>
          <p:cNvSpPr/>
          <p:nvPr/>
        </p:nvSpPr>
        <p:spPr>
          <a:xfrm>
            <a:off x="301752" y="1865376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4"/>
          <p:cNvSpPr/>
          <p:nvPr/>
        </p:nvSpPr>
        <p:spPr>
          <a:xfrm>
            <a:off x="301752" y="186537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/>
          <p:nvPr/>
        </p:nvSpPr>
        <p:spPr>
          <a:xfrm>
            <a:off x="256032" y="24871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/>
          <p:nvPr/>
        </p:nvSpPr>
        <p:spPr>
          <a:xfrm>
            <a:off x="3127248" y="969264"/>
            <a:ext cx="2651760" cy="2340864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4"/>
          <p:cNvSpPr/>
          <p:nvPr/>
        </p:nvSpPr>
        <p:spPr>
          <a:xfrm>
            <a:off x="3172968" y="1865376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/>
          <p:nvPr/>
        </p:nvSpPr>
        <p:spPr>
          <a:xfrm>
            <a:off x="3172968" y="186537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3127248" y="24871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4"/>
          <p:cNvSpPr/>
          <p:nvPr/>
        </p:nvSpPr>
        <p:spPr>
          <a:xfrm>
            <a:off x="5998464" y="969264"/>
            <a:ext cx="2889504" cy="2340864"/>
          </a:xfrm>
          <a:prstGeom prst="rect">
            <a:avLst/>
          </a:prstGeom>
          <a:solidFill>
            <a:srgbClr val="E8F4F5"/>
          </a:solidFill>
          <a:ln cap="flat" cmpd="sng" w="152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4"/>
          <p:cNvSpPr/>
          <p:nvPr/>
        </p:nvSpPr>
        <p:spPr>
          <a:xfrm>
            <a:off x="6163056" y="1865376"/>
            <a:ext cx="2560320" cy="548640"/>
          </a:xfrm>
          <a:prstGeom prst="rect">
            <a:avLst/>
          </a:prstGeom>
          <a:solidFill>
            <a:srgbClr val="D6EDEF"/>
          </a:solidFill>
          <a:ln cap="flat" cmpd="sng" w="9525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4"/>
          <p:cNvSpPr/>
          <p:nvPr/>
        </p:nvSpPr>
        <p:spPr>
          <a:xfrm>
            <a:off x="6163056" y="1865376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Metrics Bar Chart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(5-Fold Means)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5998464" y="2487168"/>
            <a:ext cx="28895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572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6572"/>
                </a:solidFill>
                <a:latin typeface="Calibri"/>
                <a:ea typeface="Calibri"/>
                <a:cs typeface="Calibri"/>
                <a:sym typeface="Calibri"/>
              </a:rPr>
              <a:t>Insert your plot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4"/>
          <p:cNvSpPr/>
          <p:nvPr/>
        </p:nvSpPr>
        <p:spPr>
          <a:xfrm>
            <a:off x="256032" y="3438144"/>
            <a:ext cx="8631936" cy="14813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8DD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4"/>
          <p:cNvSpPr/>
          <p:nvPr/>
        </p:nvSpPr>
        <p:spPr>
          <a:xfrm>
            <a:off x="256032" y="3438144"/>
            <a:ext cx="8631936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4"/>
          <p:cNvSpPr/>
          <p:nvPr/>
        </p:nvSpPr>
        <p:spPr>
          <a:xfrm>
            <a:off x="347472" y="3529584"/>
            <a:ext cx="84490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293A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4293A"/>
                </a:solidFill>
                <a:latin typeface="Trebuchet MS"/>
                <a:ea typeface="Trebuchet MS"/>
                <a:cs typeface="Trebuchet MS"/>
                <a:sym typeface="Trebuchet MS"/>
              </a:rPr>
              <a:t>Metric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347472" y="3822192"/>
            <a:ext cx="1609344" cy="96926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4"/>
          <p:cNvSpPr/>
          <p:nvPr/>
        </p:nvSpPr>
        <p:spPr>
          <a:xfrm>
            <a:off x="347472" y="3858768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402336" y="4187952"/>
            <a:ext cx="14996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8F0EE"/>
                </a:solidFill>
                <a:latin typeface="Calibri"/>
                <a:ea typeface="Calibri"/>
                <a:cs typeface="Calibri"/>
                <a:sym typeface="Calibri"/>
              </a:rPr>
              <a:t>Overall % correct predictions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2048256" y="3822192"/>
            <a:ext cx="1609344" cy="969264"/>
          </a:xfrm>
          <a:prstGeom prst="rect">
            <a:avLst/>
          </a:prstGeom>
          <a:solidFill>
            <a:srgbClr val="00A896"/>
          </a:solidFill>
          <a:ln>
            <a:noFill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4"/>
          <p:cNvSpPr/>
          <p:nvPr/>
        </p:nvSpPr>
        <p:spPr>
          <a:xfrm>
            <a:off x="2048256" y="3858768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Precision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4"/>
          <p:cNvSpPr/>
          <p:nvPr/>
        </p:nvSpPr>
        <p:spPr>
          <a:xfrm>
            <a:off x="2103120" y="4187952"/>
            <a:ext cx="14996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8F0EE"/>
                </a:solidFill>
                <a:latin typeface="Calibri"/>
                <a:ea typeface="Calibri"/>
                <a:cs typeface="Calibri"/>
                <a:sym typeface="Calibri"/>
              </a:rPr>
              <a:t>Of predicted CKD — how many are truly CKD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3749040" y="3822192"/>
            <a:ext cx="1609344" cy="969264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"/>
          <p:cNvSpPr/>
          <p:nvPr/>
        </p:nvSpPr>
        <p:spPr>
          <a:xfrm>
            <a:off x="3749040" y="3858768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3803904" y="4187952"/>
            <a:ext cx="14996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8F0EE"/>
                </a:solidFill>
                <a:latin typeface="Calibri"/>
                <a:ea typeface="Calibri"/>
                <a:cs typeface="Calibri"/>
                <a:sym typeface="Calibri"/>
              </a:rPr>
              <a:t>Of actual CKD cases — how many were caught (most critical)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/>
          <p:nvPr/>
        </p:nvSpPr>
        <p:spPr>
          <a:xfrm>
            <a:off x="5449824" y="3822192"/>
            <a:ext cx="1609344" cy="969264"/>
          </a:xfrm>
          <a:prstGeom prst="rect">
            <a:avLst/>
          </a:prstGeom>
          <a:solidFill>
            <a:srgbClr val="04293A"/>
          </a:solidFill>
          <a:ln>
            <a:noFill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4"/>
          <p:cNvSpPr/>
          <p:nvPr/>
        </p:nvSpPr>
        <p:spPr>
          <a:xfrm>
            <a:off x="5449824" y="3858768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F1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4"/>
          <p:cNvSpPr/>
          <p:nvPr/>
        </p:nvSpPr>
        <p:spPr>
          <a:xfrm>
            <a:off x="5504688" y="4187952"/>
            <a:ext cx="14996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8F0EE"/>
                </a:solidFill>
                <a:latin typeface="Calibri"/>
                <a:ea typeface="Calibri"/>
                <a:cs typeface="Calibri"/>
                <a:sym typeface="Calibri"/>
              </a:rPr>
              <a:t>Harmonic mean of Precision and Recall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4"/>
          <p:cNvSpPr/>
          <p:nvPr/>
        </p:nvSpPr>
        <p:spPr>
          <a:xfrm>
            <a:off x="7150608" y="3822192"/>
            <a:ext cx="1609344" cy="969264"/>
          </a:xfrm>
          <a:prstGeom prst="rect">
            <a:avLst/>
          </a:prstGeom>
          <a:solidFill>
            <a:srgbClr val="02C39A"/>
          </a:solidFill>
          <a:ln>
            <a:noFill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7150608" y="3858768"/>
            <a:ext cx="16093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AUC-ROC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7205472" y="4187952"/>
            <a:ext cx="14996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D8F0EE"/>
                </a:solidFill>
                <a:latin typeface="Calibri"/>
                <a:ea typeface="Calibri"/>
                <a:cs typeface="Calibri"/>
                <a:sym typeface="Calibri"/>
              </a:rPr>
              <a:t>Discrimination across all thresholds  (&gt;0.9 = Excellent)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ownloads\CMLR.jpg" id="671" name="Google Shape;6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507" y="969264"/>
            <a:ext cx="2657285" cy="2340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ownloads\CMDT.jpg" id="672" name="Google Shape;6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248" y="969265"/>
            <a:ext cx="2651760" cy="23408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ownloads\barchartcomp.jpg" id="673" name="Google Shape;67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8464" y="969264"/>
            <a:ext cx="2889503" cy="2340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293A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4A5A"/>
          </a:solidFill>
          <a:ln cap="flat" cmpd="sng" w="12700">
            <a:solidFill>
              <a:srgbClr val="1A4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5"/>
          <p:cNvSpPr/>
          <p:nvPr/>
        </p:nvSpPr>
        <p:spPr>
          <a:xfrm>
            <a:off x="7040880" y="274320"/>
            <a:ext cx="2011680" cy="2011680"/>
          </a:xfrm>
          <a:prstGeom prst="ellipse">
            <a:avLst/>
          </a:prstGeom>
          <a:solidFill>
            <a:srgbClr val="028090">
              <a:alpha val="18039"/>
            </a:srgbClr>
          </a:solidFill>
          <a:ln cap="flat" cmpd="sng" w="12700">
            <a:solidFill>
              <a:srgbClr val="028090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7406640" y="3200400"/>
            <a:ext cx="1371600" cy="1371600"/>
          </a:xfrm>
          <a:prstGeom prst="ellipse">
            <a:avLst/>
          </a:prstGeom>
          <a:solidFill>
            <a:srgbClr val="02C39A">
              <a:alpha val="21960"/>
            </a:srgbClr>
          </a:solidFill>
          <a:ln cap="flat" cmpd="sng" w="12700">
            <a:solidFill>
              <a:srgbClr val="02C39A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320040" y="2743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CONCLUSION &amp;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320040" y="658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320040" y="1069848"/>
            <a:ext cx="128016" cy="128016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5"/>
          <p:cNvSpPr/>
          <p:nvPr/>
        </p:nvSpPr>
        <p:spPr>
          <a:xfrm>
            <a:off x="521208" y="100584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Both models achieve ~88.5% accuracy with consistent F1 ~0.86 — validates the 22 remaining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5"/>
          <p:cNvSpPr/>
          <p:nvPr/>
        </p:nvSpPr>
        <p:spPr>
          <a:xfrm>
            <a:off x="320040" y="1563624"/>
            <a:ext cx="128016" cy="128016"/>
          </a:xfrm>
          <a:prstGeom prst="ellipse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521208" y="1499616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Logistic Regression Precision=1.0 — every CKD flag is correct, zero false alarms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320040" y="2057400"/>
            <a:ext cx="128016" cy="12801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5"/>
          <p:cNvSpPr/>
          <p:nvPr/>
        </p:nvSpPr>
        <p:spPr>
          <a:xfrm>
            <a:off x="521208" y="1993392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Recall ~0.756 — both models miss ~24% of CKD patients at default 0.5 threshold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521208" y="24871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5"/>
          <p:cNvSpPr/>
          <p:nvPr/>
        </p:nvSpPr>
        <p:spPr>
          <a:xfrm>
            <a:off x="521208" y="298094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5"/>
          <p:cNvSpPr/>
          <p:nvPr/>
        </p:nvSpPr>
        <p:spPr>
          <a:xfrm>
            <a:off x="3566160" y="658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 &amp; 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3566160" y="1069848"/>
            <a:ext cx="128016" cy="128016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5"/>
          <p:cNvSpPr/>
          <p:nvPr/>
        </p:nvSpPr>
        <p:spPr>
          <a:xfrm>
            <a:off x="3767328" y="100584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Synthetic data — 13 features had machine-generated boundaries encoding target directly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3566160" y="1563624"/>
            <a:ext cx="128016" cy="12801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5"/>
          <p:cNvSpPr/>
          <p:nvPr/>
        </p:nvSpPr>
        <p:spPr>
          <a:xfrm>
            <a:off x="3767328" y="1499616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Recall gap — lowering threshold to 0.3 can push recall to ~0.88 at cost of some precision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5"/>
          <p:cNvSpPr/>
          <p:nvPr/>
        </p:nvSpPr>
        <p:spPr>
          <a:xfrm>
            <a:off x="3566160" y="2057400"/>
            <a:ext cx="128016" cy="128016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3767328" y="1993392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CF0"/>
                </a:solidFill>
                <a:latin typeface="Calibri"/>
                <a:ea typeface="Calibri"/>
                <a:cs typeface="Calibri"/>
                <a:sym typeface="Calibri"/>
              </a:rPr>
              <a:t>No external validation on real clinical data — performance may differ on genuine measurements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5"/>
          <p:cNvSpPr/>
          <p:nvPr/>
        </p:nvSpPr>
        <p:spPr>
          <a:xfrm>
            <a:off x="3767328" y="248716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5"/>
          <p:cNvSpPr/>
          <p:nvPr/>
        </p:nvSpPr>
        <p:spPr>
          <a:xfrm>
            <a:off x="3767328" y="298094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CF0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5"/>
          <p:cNvSpPr/>
          <p:nvPr/>
        </p:nvSpPr>
        <p:spPr>
          <a:xfrm>
            <a:off x="384048" y="3749040"/>
            <a:ext cx="6217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Trebuchet M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2026-04-21T07:47:23Z</dcterms:created>
  <dc:creator>PptxGenJS</dc:creator>
</cp:coreProperties>
</file>